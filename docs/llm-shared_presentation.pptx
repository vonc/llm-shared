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6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017" y="0"/>
            <a:ext cx="4876678" cy="47625"/>
          </a:xfrm>
          <a:prstGeom prst="rect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0990" y="285750"/>
            <a:ext cx="4762380" cy="4191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Uptevia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8EB2BB"/>
                </a:solidFill>
                <a:latin typeface="Segoe UI"/>
              </a:rPr>
              <a:t>CORPORATE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381250"/>
            <a:ext cx="12191695" cy="66675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Segoe UI"/>
              </a:rPr>
              <a:t>llm-shared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5942" y="3238500"/>
            <a:ext cx="7619809" cy="66675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C4D8DE"/>
                </a:solidFill>
                <a:latin typeface="Segoe UI"/>
              </a:rPr>
              <a:t>Framework de développement assisté par IA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4D8DE"/>
                </a:solidFill>
                <a:latin typeface="Segoe UI"/>
              </a:rPr>
              <a:t>De l'idée brute à la release taguée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286250"/>
            <a:ext cx="12191695" cy="28575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EB2BB"/>
                </a:solidFill>
                <a:latin typeface="Segoe UI"/>
              </a:rPr>
              <a:t>Direction Informatique - 2025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0990" y="114300"/>
            <a:ext cx="4762380" cy="3810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0566F"/>
                </a:solidFill>
                <a:latin typeface="Segoe UI"/>
              </a:rPr>
              <a:t>Uptevia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17E86"/>
                </a:solidFill>
                <a:latin typeface="Segoe UI"/>
              </a:rPr>
              <a:t>CORPORATE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29314" y="190500"/>
            <a:ext cx="4381390" cy="1905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7E86"/>
                </a:solidFill>
                <a:latin typeface="Segoe UI"/>
              </a:rPr>
              <a:t>llm-shared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52450"/>
            <a:ext cx="7315017" cy="47625"/>
          </a:xfrm>
          <a:prstGeom prst="rect">
            <a:avLst/>
          </a:prstGeom>
          <a:solidFill>
            <a:srgbClr val="005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552450"/>
            <a:ext cx="4876678" cy="47625"/>
          </a:xfrm>
          <a:prstGeom prst="rect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6238" y="685800"/>
            <a:ext cx="11239219" cy="4191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566F"/>
                </a:solidFill>
                <a:latin typeface="Segoe UI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38" y="1104900"/>
            <a:ext cx="11239219" cy="2667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17E86"/>
                </a:solidFill>
                <a:latin typeface="Segoe UI"/>
              </a:rPr>
              <a:t>Framework de développement structuré avec l'IA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8714" y="1809750"/>
            <a:ext cx="476238" cy="4191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C6608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2576" y="1809750"/>
            <a:ext cx="4000399" cy="4191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566F"/>
                </a:solidFill>
                <a:latin typeface="Segoe UI"/>
              </a:rPr>
              <a:t>Le problème du « vibe-coding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333" y="1809750"/>
            <a:ext cx="476238" cy="4191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C6608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91195" y="1809750"/>
            <a:ext cx="4000399" cy="4191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566F"/>
                </a:solidFill>
                <a:latin typeface="Segoe UI"/>
              </a:rPr>
              <a:t>La solution : un workflow structuré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8714" y="2552700"/>
            <a:ext cx="476238" cy="4191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C6608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2576" y="2552700"/>
            <a:ext cx="4000399" cy="4191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566F"/>
                </a:solidFill>
                <a:latin typeface="Segoe UI"/>
              </a:rPr>
              <a:t>Principe clé : l'auto-revue 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333" y="2552700"/>
            <a:ext cx="476238" cy="4191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C6608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1195" y="2552700"/>
            <a:ext cx="4000399" cy="4191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566F"/>
                </a:solidFill>
                <a:latin typeface="Segoe UI"/>
              </a:rPr>
              <a:t>Vue d'ensemble du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714" y="3295650"/>
            <a:ext cx="476238" cy="4191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C6608"/>
                </a:solidFill>
                <a:latin typeface="Segoe U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2576" y="3295650"/>
            <a:ext cx="4000399" cy="4191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566F"/>
                </a:solidFill>
                <a:latin typeface="Segoe UI"/>
              </a:rPr>
              <a:t>Phase documentaire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333" y="3295650"/>
            <a:ext cx="476238" cy="4191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C6608"/>
                </a:solidFill>
                <a:latin typeface="Segoe U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1195" y="3295650"/>
            <a:ext cx="4000399" cy="4191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566F"/>
                </a:solidFill>
                <a:latin typeface="Segoe UI"/>
              </a:rPr>
              <a:t>Phase d'implémentation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8714" y="4038600"/>
            <a:ext cx="476238" cy="4191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C6608"/>
                </a:solidFill>
                <a:latin typeface="Segoe UI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2576" y="4038600"/>
            <a:ext cx="4000399" cy="4191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566F"/>
                </a:solidFill>
                <a:latin typeface="Segoe UI"/>
              </a:rPr>
              <a:t>Commits conventionnels &amp; release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333" y="4038600"/>
            <a:ext cx="476238" cy="4191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C6608"/>
                </a:solidFill>
                <a:latin typeface="Segoe UI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91195" y="4038600"/>
            <a:ext cx="4000399" cy="4191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566F"/>
                </a:solidFill>
                <a:latin typeface="Segoe UI"/>
              </a:rPr>
              <a:t>Groundhog &amp; automatisation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8714" y="4781550"/>
            <a:ext cx="476238" cy="4191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C6608"/>
                </a:solidFill>
                <a:latin typeface="Segoe UI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52576" y="4781550"/>
            <a:ext cx="4000399" cy="4191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566F"/>
                </a:solidFill>
                <a:latin typeface="Segoe UI"/>
              </a:rPr>
              <a:t>Sécurité : deux garde-fous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0990" y="6667500"/>
            <a:ext cx="4762380" cy="152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AA"/>
                </a:solidFill>
                <a:latin typeface="Segoe UI"/>
              </a:rPr>
              <a:t>llm-shared - Agenda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53476" y="6667500"/>
            <a:ext cx="857228" cy="152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AA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0990" y="114300"/>
            <a:ext cx="4762380" cy="3810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0566F"/>
                </a:solidFill>
                <a:latin typeface="Segoe UI"/>
              </a:rPr>
              <a:t>Uptevia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17E86"/>
                </a:solidFill>
                <a:latin typeface="Segoe UI"/>
              </a:rPr>
              <a:t>CORPORATE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29314" y="190500"/>
            <a:ext cx="4381390" cy="1905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7E86"/>
                </a:solidFill>
                <a:latin typeface="Segoe UI"/>
              </a:rPr>
              <a:t>1. Problème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52450"/>
            <a:ext cx="7315017" cy="47625"/>
          </a:xfrm>
          <a:prstGeom prst="rect">
            <a:avLst/>
          </a:prstGeom>
          <a:solidFill>
            <a:srgbClr val="005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552450"/>
            <a:ext cx="4876678" cy="47625"/>
          </a:xfrm>
          <a:prstGeom prst="rect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6238" y="685800"/>
            <a:ext cx="11239219" cy="4191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566F"/>
                </a:solidFill>
                <a:latin typeface="Segoe UI"/>
              </a:rPr>
              <a:t>Le problème du « vibe-coding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38" y="1104900"/>
            <a:ext cx="11239219" cy="2667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17E86"/>
                </a:solidFill>
                <a:latin typeface="Segoe UI"/>
              </a:rPr>
              <a:t>Générer du code vite sans spécifier ce qu'on veut vraiment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6238" y="1571625"/>
            <a:ext cx="3619409" cy="180975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6238" y="1571625"/>
            <a:ext cx="3619409" cy="57150"/>
          </a:xfrm>
          <a:prstGeom prst="rect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634" y="1724025"/>
            <a:ext cx="3314617" cy="15430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333333"/>
                </a:solidFill>
                <a:latin typeface="Segoe UI"/>
              </a:rPr>
              <a:t>💡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C6608"/>
                </a:solidFill>
                <a:latin typeface="Segoe UI"/>
              </a:rPr>
              <a:t>L'idée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Segoe UI"/>
              </a:rPr>
              <a:t>« J'ai une idée, génère-moi du code, je verrai les détails plus tard. 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6142" y="1571625"/>
            <a:ext cx="3619409" cy="180975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86142" y="1571625"/>
            <a:ext cx="3619409" cy="57150"/>
          </a:xfrm>
          <a:prstGeom prst="rect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8539" y="1724025"/>
            <a:ext cx="3314617" cy="15430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⚡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C6608"/>
                </a:solidFill>
                <a:latin typeface="Segoe UI"/>
              </a:rPr>
              <a:t>Le code arrive vite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Segoe UI"/>
              </a:rPr>
              <a:t>Mais il s'appuie sur des hypothèses non écrites. Il casse au premier cas réel non prévu.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6047" y="1571625"/>
            <a:ext cx="3619409" cy="180975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6047" y="1571625"/>
            <a:ext cx="3619409" cy="57150"/>
          </a:xfrm>
          <a:prstGeom prst="rect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8443" y="1724025"/>
            <a:ext cx="3314617" cy="15430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333333"/>
                </a:solidFill>
                <a:latin typeface="Segoe UI"/>
              </a:rPr>
              <a:t>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C6608"/>
                </a:solidFill>
                <a:latin typeface="Segoe UI"/>
              </a:rPr>
              <a:t>La conséquence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Segoe UI"/>
              </a:rPr>
              <a:t>Code sans documentation d'intention. Difficile à maintenir, à expliquer, à étendre : même par l'auteur.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6238" y="3667125"/>
            <a:ext cx="11239219" cy="1095375"/>
          </a:xfrm>
          <a:prstGeom prst="roundRect">
            <a:avLst/>
          </a:prstGeom>
          <a:solidFill>
            <a:srgbClr val="FFF3E6"/>
          </a:solidFill>
          <a:ln w="19050">
            <a:solidFill>
              <a:srgbClr val="EC66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485" y="3810000"/>
            <a:ext cx="11048723" cy="904875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EC6608"/>
                </a:solidFill>
                <a:latin typeface="Segoe UI"/>
              </a:rPr>
              <a:t>⚠️ Ce que refuse le workflow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Segoe UI"/>
              </a:rPr>
              <a:t>Passer directement à l'implémentation sans exigence écrite · Sans design · Sans tests · Sans scénarios d'acceptation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990" y="6667500"/>
            <a:ext cx="4762380" cy="152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AA"/>
                </a:solidFill>
                <a:latin typeface="Segoe UI"/>
              </a:rPr>
              <a:t>llm-shared - Problème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53476" y="6667500"/>
            <a:ext cx="857228" cy="152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AA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0990" y="114300"/>
            <a:ext cx="4762380" cy="3810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0566F"/>
                </a:solidFill>
                <a:latin typeface="Segoe UI"/>
              </a:rPr>
              <a:t>Uptevia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17E86"/>
                </a:solidFill>
                <a:latin typeface="Segoe UI"/>
              </a:rPr>
              <a:t>CORPORATE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29314" y="190500"/>
            <a:ext cx="4381390" cy="1905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7E86"/>
                </a:solidFill>
                <a:latin typeface="Segoe UI"/>
              </a:rPr>
              <a:t>2.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52450"/>
            <a:ext cx="7315017" cy="47625"/>
          </a:xfrm>
          <a:prstGeom prst="rect">
            <a:avLst/>
          </a:prstGeom>
          <a:solidFill>
            <a:srgbClr val="005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552450"/>
            <a:ext cx="4876678" cy="47625"/>
          </a:xfrm>
          <a:prstGeom prst="rect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6238" y="685800"/>
            <a:ext cx="11239219" cy="4191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566F"/>
                </a:solidFill>
                <a:latin typeface="Segoe UI"/>
              </a:rPr>
              <a:t>La solution : un workflow en phases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38" y="1104900"/>
            <a:ext cx="11239219" cy="2667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17E86"/>
                </a:solidFill>
                <a:latin typeface="Segoe UI"/>
              </a:rPr>
              <a:t>Garder la créativité, refuser le raccourci vers le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1010" y="1571625"/>
            <a:ext cx="1695407" cy="14287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109" y="1685925"/>
            <a:ext cx="1619209" cy="12382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EC6608"/>
                </a:solidFill>
                <a:latin typeface="Segoe UI"/>
              </a:rPr>
              <a:t>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0566F"/>
                </a:solidFill>
                <a:latin typeface="Segoe UI"/>
              </a:rPr>
              <a:t>Brouillon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Segoe UI"/>
              </a:rPr>
              <a:t>Note libre en langage naturel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76418" y="2095499"/>
            <a:ext cx="171445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17E86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47863" y="1571625"/>
            <a:ext cx="1695407" cy="1428750"/>
          </a:xfrm>
          <a:prstGeom prst="roundRect">
            <a:avLst/>
          </a:prstGeom>
          <a:solidFill>
            <a:srgbClr val="EC6608"/>
          </a:solidFill>
          <a:ln w="19050">
            <a:solidFill>
              <a:srgbClr val="EC66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85962" y="1685925"/>
            <a:ext cx="1619209" cy="12382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Exigence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3E6"/>
                </a:solidFill>
                <a:latin typeface="Segoe UI"/>
              </a:rPr>
              <a:t>Document structuré + revue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3271" y="2095499"/>
            <a:ext cx="171445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17E86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4717" y="1571625"/>
            <a:ext cx="1695407" cy="1428750"/>
          </a:xfrm>
          <a:prstGeom prst="roundRect">
            <a:avLst/>
          </a:prstGeom>
          <a:solidFill>
            <a:srgbClr val="00566F"/>
          </a:solidFill>
          <a:ln w="19050">
            <a:solidFill>
              <a:srgbClr val="005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2816" y="1685925"/>
            <a:ext cx="1619209" cy="12382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Design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4D8DE"/>
                </a:solidFill>
                <a:latin typeface="Segoe UI"/>
              </a:rPr>
              <a:t>Solution + scénarios d'acceptation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0124" y="2095499"/>
            <a:ext cx="171445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17E86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570" y="1571625"/>
            <a:ext cx="1695407" cy="1428750"/>
          </a:xfrm>
          <a:prstGeom prst="roundRect">
            <a:avLst/>
          </a:prstGeom>
          <a:solidFill>
            <a:srgbClr val="EC6608"/>
          </a:solidFill>
          <a:ln w="19050">
            <a:solidFill>
              <a:srgbClr val="EC66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9669" y="1685925"/>
            <a:ext cx="1619209" cy="12382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Plan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3E6"/>
                </a:solidFill>
                <a:latin typeface="Segoe UI"/>
              </a:rPr>
              <a:t>Étapes numérotées +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6978" y="2095499"/>
            <a:ext cx="171445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17E86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8423" y="1571625"/>
            <a:ext cx="1695407" cy="1428750"/>
          </a:xfrm>
          <a:prstGeom prst="roundRect">
            <a:avLst/>
          </a:prstGeom>
          <a:solidFill>
            <a:srgbClr val="00566F"/>
          </a:solidFill>
          <a:ln w="19050">
            <a:solidFill>
              <a:srgbClr val="005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86522" y="1685925"/>
            <a:ext cx="1619209" cy="12382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Implémentation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4D8DE"/>
                </a:solidFill>
                <a:latin typeface="Segoe UI"/>
              </a:rPr>
              <a:t>Code + tests + auto-revue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43831" y="2095499"/>
            <a:ext cx="171445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17E86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15277" y="1571625"/>
            <a:ext cx="1695407" cy="1428750"/>
          </a:xfrm>
          <a:prstGeom prst="roundRect">
            <a:avLst/>
          </a:prstGeom>
          <a:solidFill>
            <a:srgbClr val="EC6608"/>
          </a:solidFill>
          <a:ln w="19050">
            <a:solidFill>
              <a:srgbClr val="EC66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53376" y="1685925"/>
            <a:ext cx="1619209" cy="12382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Release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3E6"/>
                </a:solidFill>
                <a:latin typeface="Segoe UI"/>
              </a:rPr>
              <a:t>Notes + tag de version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6238" y="3381375"/>
            <a:ext cx="5524361" cy="1666875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6238" y="3381375"/>
            <a:ext cx="5524361" cy="57150"/>
          </a:xfrm>
          <a:prstGeom prst="rect">
            <a:avLst/>
          </a:prstGeom>
          <a:solidFill>
            <a:srgbClr val="005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8634" y="3533775"/>
            <a:ext cx="5219569" cy="140017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0566F"/>
                </a:solidFill>
                <a:latin typeface="Segoe UI"/>
              </a:rPr>
              <a:t>Chaque phase laisse une trace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Segoe UI"/>
              </a:rPr>
              <a:t>Brouillon, exigence, design, plan, validation, commits groupés : le workflow double comme documentation du processus de développement.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1095" y="3381375"/>
            <a:ext cx="5524361" cy="1666875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1095" y="3381375"/>
            <a:ext cx="5524361" cy="57150"/>
          </a:xfrm>
          <a:prstGeom prst="rect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43491" y="3533775"/>
            <a:ext cx="5219569" cy="140017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C6608"/>
                </a:solidFill>
                <a:latin typeface="Segoe UI"/>
              </a:rPr>
              <a:t>Compatible avec tout LLM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Segoe UI"/>
              </a:rPr>
              <a:t>Les commandes slash se résolvent en markdown brut. Copilot, Claude Code, ChatGPT Codex : tout agent qui lit et écrit des fichiers peut suivre le workflow.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0990" y="6667500"/>
            <a:ext cx="4762380" cy="152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AA"/>
                </a:solidFill>
                <a:latin typeface="Segoe UI"/>
              </a:rPr>
              <a:t>llm-shared - 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53476" y="6667500"/>
            <a:ext cx="857228" cy="152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AA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0990" y="114300"/>
            <a:ext cx="4762380" cy="3810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0566F"/>
                </a:solidFill>
                <a:latin typeface="Segoe UI"/>
              </a:rPr>
              <a:t>Uptevia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17E86"/>
                </a:solidFill>
                <a:latin typeface="Segoe UI"/>
              </a:rPr>
              <a:t>CORPORATE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29314" y="190500"/>
            <a:ext cx="4381390" cy="1905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7E86"/>
                </a:solidFill>
                <a:latin typeface="Segoe UI"/>
              </a:rPr>
              <a:t>3. Auto-revue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52450"/>
            <a:ext cx="7315017" cy="47625"/>
          </a:xfrm>
          <a:prstGeom prst="rect">
            <a:avLst/>
          </a:prstGeom>
          <a:solidFill>
            <a:srgbClr val="005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552450"/>
            <a:ext cx="4876678" cy="47625"/>
          </a:xfrm>
          <a:prstGeom prst="rect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6238" y="685800"/>
            <a:ext cx="11239219" cy="4191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566F"/>
                </a:solidFill>
                <a:latin typeface="Segoe UI"/>
              </a:rPr>
              <a:t>Principe clé : l'IA révise son propre travail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38" y="1104900"/>
            <a:ext cx="11239219" cy="2667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17E86"/>
                </a:solidFill>
                <a:latin typeface="Segoe UI"/>
              </a:rPr>
              <a:t>Ne jamais faire confiance au premier passage : même pour la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2971" y="1619250"/>
            <a:ext cx="4190895" cy="2286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566F"/>
                </a:solidFill>
                <a:latin typeface="Segoe UI"/>
              </a:rPr>
              <a:t>Revue documentaire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5447" y="2190750"/>
            <a:ext cx="2285942" cy="400050"/>
          </a:xfrm>
          <a:prstGeom prst="roundRect">
            <a:avLst/>
          </a:prstGeom>
          <a:solidFill>
            <a:srgbClr val="00566F"/>
          </a:solidFill>
          <a:ln w="19050">
            <a:solidFill>
              <a:srgbClr val="005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Écriture du document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43171" y="2590800"/>
            <a:ext cx="190495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17E86"/>
                </a:solidFill>
                <a:latin typeface="Segoe U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95447" y="2781300"/>
            <a:ext cx="2285942" cy="4000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66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C6608"/>
                </a:solidFill>
                <a:latin typeface="Segoe UI"/>
              </a:rPr>
              <a:t>IA pose des questions ouvertes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95447" y="3190875"/>
            <a:ext cx="2285942" cy="1524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C6608"/>
                </a:solidFill>
                <a:latin typeface="Segoe UI"/>
              </a:rPr>
              <a:t>[STOP] Humain répond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3171" y="3343275"/>
            <a:ext cx="190495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17E86"/>
                </a:solidFill>
                <a:latin typeface="Segoe U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95447" y="3533775"/>
            <a:ext cx="2285942" cy="4000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66F"/>
                </a:solidFill>
                <a:latin typeface="Segoe UI"/>
              </a:rPr>
              <a:t>Consolidation des réponses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5447" y="3943350"/>
            <a:ext cx="2285942" cy="1524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66F"/>
                </a:solidFill>
                <a:latin typeface="Segoe UI"/>
              </a:rPr>
              <a:t>↻ Nouvelles questions ? Boucle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3171" y="4095750"/>
            <a:ext cx="190495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17E86"/>
                </a:solidFill>
                <a:latin typeface="Segoe U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95447" y="4286250"/>
            <a:ext cx="2285942" cy="400050"/>
          </a:xfrm>
          <a:prstGeom prst="roundRect">
            <a:avLst/>
          </a:prstGeom>
          <a:solidFill>
            <a:srgbClr val="EC6608"/>
          </a:solidFill>
          <a:ln w="19050">
            <a:solidFill>
              <a:srgbClr val="EC66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Document validé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7828" y="1619250"/>
            <a:ext cx="4190895" cy="2286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566F"/>
                </a:solidFill>
                <a:latin typeface="Segoe UI"/>
              </a:rPr>
              <a:t>Revue d'implémentation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0304" y="2190750"/>
            <a:ext cx="2285942" cy="400050"/>
          </a:xfrm>
          <a:prstGeom prst="roundRect">
            <a:avLst/>
          </a:prstGeom>
          <a:solidFill>
            <a:srgbClr val="00566F"/>
          </a:solidFill>
          <a:ln w="19050">
            <a:solidFill>
              <a:srgbClr val="005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Génération du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028" y="2590800"/>
            <a:ext cx="190495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17E86"/>
                </a:solidFill>
                <a:latin typeface="Segoe UI"/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0304" y="2781300"/>
            <a:ext cx="2285942" cy="4000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66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C6608"/>
                </a:solidFill>
                <a:latin typeface="Segoe UI"/>
              </a:rPr>
              <a:t>Vérification : code = plan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0304" y="3190875"/>
            <a:ext cx="2285942" cy="1524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C6608"/>
                </a:solidFill>
                <a:latin typeface="Segoe UI"/>
              </a:rPr>
              <a:t>[STOP] Écarts détectés 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8028" y="3343275"/>
            <a:ext cx="190495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17E86"/>
                </a:solidFill>
                <a:latin typeface="Segoe UI"/>
              </a:rPr>
              <a:t>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0304" y="3533775"/>
            <a:ext cx="2285942" cy="4000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66F"/>
                </a:solidFill>
                <a:latin typeface="Segoe UI"/>
              </a:rPr>
              <a:t>Corrections itératives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0304" y="3943350"/>
            <a:ext cx="2285942" cy="1524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66F"/>
                </a:solidFill>
                <a:latin typeface="Segoe UI"/>
              </a:rPr>
              <a:t>↻ Vérification jusqu'à conformité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8028" y="4095750"/>
            <a:ext cx="190495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17E86"/>
                </a:solidFill>
                <a:latin typeface="Segoe UI"/>
              </a:rP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0304" y="4286250"/>
            <a:ext cx="2285942" cy="400050"/>
          </a:xfrm>
          <a:prstGeom prst="roundRect">
            <a:avLst/>
          </a:prstGeom>
          <a:solidFill>
            <a:srgbClr val="EC6608"/>
          </a:solidFill>
          <a:ln w="19050">
            <a:solidFill>
              <a:srgbClr val="EC66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Étape validée 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0990" y="6667500"/>
            <a:ext cx="4762380" cy="152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AA"/>
                </a:solidFill>
                <a:latin typeface="Segoe UI"/>
              </a:rPr>
              <a:t>llm-shared - Auto-revue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53476" y="6667500"/>
            <a:ext cx="857228" cy="152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AA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0990" y="114300"/>
            <a:ext cx="4762380" cy="3810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0566F"/>
                </a:solidFill>
                <a:latin typeface="Segoe UI"/>
              </a:rPr>
              <a:t>Uptevia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17E86"/>
                </a:solidFill>
                <a:latin typeface="Segoe UI"/>
              </a:rPr>
              <a:t>CORPORATE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29314" y="190500"/>
            <a:ext cx="4381390" cy="1905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7E86"/>
                </a:solidFill>
                <a:latin typeface="Segoe UI"/>
              </a:rPr>
              <a:t>3. Auto-revue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52450"/>
            <a:ext cx="7315017" cy="47625"/>
          </a:xfrm>
          <a:prstGeom prst="rect">
            <a:avLst/>
          </a:prstGeom>
          <a:solidFill>
            <a:srgbClr val="005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552450"/>
            <a:ext cx="4876678" cy="47625"/>
          </a:xfrm>
          <a:prstGeom prst="rect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6238" y="685800"/>
            <a:ext cx="11239219" cy="4191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566F"/>
                </a:solidFill>
                <a:latin typeface="Segoe UI"/>
              </a:rPr>
              <a:t>L'auto-revue en pratique : deux skills dédiés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38" y="1104900"/>
            <a:ext cx="11239219" cy="2667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17E86"/>
                </a:solidFill>
                <a:latin typeface="Segoe UI"/>
              </a:rPr>
              <a:t>/review-ask-questions relit le document, /implementation-check relit le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2971" y="1666875"/>
            <a:ext cx="4190895" cy="2286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566F"/>
                </a:solidFill>
                <a:latin typeface="Segoe UI"/>
              </a:rPr>
              <a:t>Revue documentaire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76" y="1895474"/>
            <a:ext cx="4571885" cy="20955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717E86"/>
                </a:solidFill>
                <a:latin typeface="Segoe UI"/>
              </a:rPr>
              <a:t>l'IA relit ce qu'elle vient de rédiger : </a:t>
            </a:r>
            <a:r>
              <a:rPr sz="900" b="0" i="1">
                <a:solidFill>
                  <a:srgbClr val="EC6608"/>
                </a:solidFill>
                <a:latin typeface="Segoe UI"/>
              </a:rPr>
              <a:t>/review-ask-questions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95447" y="2238375"/>
            <a:ext cx="2285942" cy="361950"/>
          </a:xfrm>
          <a:prstGeom prst="roundRect">
            <a:avLst/>
          </a:prstGeom>
          <a:solidFill>
            <a:srgbClr val="00566F"/>
          </a:solidFill>
          <a:ln w="19050">
            <a:solidFill>
              <a:srgbClr val="005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Question : contexte &amp; problème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43171" y="2600325"/>
            <a:ext cx="190495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17E86"/>
                </a:solidFill>
                <a:latin typeface="Segoe U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95447" y="2790825"/>
            <a:ext cx="2285942" cy="3619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66F"/>
                </a:solidFill>
                <a:latin typeface="Segoe UI"/>
              </a:rPr>
              <a:t>Reformulation BBQ des enjeux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3171" y="3152775"/>
            <a:ext cx="190495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17E86"/>
                </a:solidFill>
                <a:latin typeface="Segoe U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95447" y="3343275"/>
            <a:ext cx="2285942" cy="3619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66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C6608"/>
                </a:solidFill>
                <a:latin typeface="Segoe UI"/>
              </a:rPr>
              <a:t>Options X1 / X2 / X3 : pour &amp; contre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3171" y="3705224"/>
            <a:ext cx="190495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17E86"/>
                </a:solidFill>
                <a:latin typeface="Segoe UI"/>
              </a:rP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95447" y="3895725"/>
            <a:ext cx="2285942" cy="3619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66F"/>
                </a:solidFill>
                <a:latin typeface="Segoe UI"/>
              </a:rPr>
              <a:t>Option recommandée + arguments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5447" y="4267200"/>
            <a:ext cx="2285942" cy="1524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C6608"/>
                </a:solidFill>
                <a:latin typeface="Segoe UI"/>
              </a:rPr>
              <a:t>[STOP] Humain répond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43171" y="4419600"/>
            <a:ext cx="190495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17E86"/>
                </a:solidFill>
                <a:latin typeface="Segoe UI"/>
              </a:rP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95447" y="4610100"/>
            <a:ext cx="2285942" cy="361950"/>
          </a:xfrm>
          <a:prstGeom prst="roundRect">
            <a:avLst/>
          </a:prstGeom>
          <a:solidFill>
            <a:srgbClr val="EC6608"/>
          </a:solidFill>
          <a:ln w="19050">
            <a:solidFill>
              <a:srgbClr val="EC66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Réponse : option XY + tableau récap 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7828" y="1666875"/>
            <a:ext cx="4190895" cy="2286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566F"/>
                </a:solidFill>
                <a:latin typeface="Segoe UI"/>
              </a:rPr>
              <a:t>Revue d'implémentation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333" y="1895474"/>
            <a:ext cx="4571885" cy="20955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717E86"/>
                </a:solidFill>
                <a:latin typeface="Segoe UI"/>
              </a:rPr>
              <a:t>l'IA relit ce qu'elle vient de coder : </a:t>
            </a:r>
            <a:r>
              <a:rPr sz="900" b="0" i="1">
                <a:solidFill>
                  <a:srgbClr val="EC6608"/>
                </a:solidFill>
                <a:latin typeface="Segoe UI"/>
              </a:rPr>
              <a:t>/implementation-check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0304" y="2238375"/>
            <a:ext cx="2285942" cy="361950"/>
          </a:xfrm>
          <a:prstGeom prst="roundRect">
            <a:avLst/>
          </a:prstGeom>
          <a:solidFill>
            <a:srgbClr val="00566F"/>
          </a:solidFill>
          <a:ln w="19050">
            <a:solidFill>
              <a:srgbClr val="005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Verdict : Oui / Non - étape 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8028" y="2600325"/>
            <a:ext cx="190495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17E86"/>
                </a:solidFill>
                <a:latin typeface="Segoe UI"/>
              </a:rPr>
              <a:t>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0304" y="2790825"/>
            <a:ext cx="2285942" cy="3619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66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C6608"/>
                </a:solidFill>
                <a:latin typeface="Segoe UI"/>
              </a:rPr>
              <a:t>Ce qui est fait / travail manquant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0304" y="3162300"/>
            <a:ext cx="2285942" cy="1524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C6608"/>
                </a:solidFill>
                <a:latin typeface="Segoe UI"/>
              </a:rPr>
              <a:t>[STOP] Écarts → implement-missing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8028" y="3314700"/>
            <a:ext cx="190495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17E86"/>
                </a:solidFill>
                <a:latin typeface="Segoe UI"/>
              </a:rP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0304" y="3505200"/>
            <a:ext cx="2285942" cy="3619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66F"/>
                </a:solidFill>
                <a:latin typeface="Segoe UI"/>
              </a:rPr>
              <a:t>Architecture DDD-Hexagonal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8028" y="3867150"/>
            <a:ext cx="190495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17E86"/>
                </a:solidFill>
                <a:latin typeface="Segoe UI"/>
              </a:rPr>
              <a:t>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0304" y="4057650"/>
            <a:ext cx="2285942" cy="3619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66F"/>
                </a:solidFill>
                <a:latin typeface="Segoe UI"/>
              </a:rPr>
              <a:t>Performance : pas de O(n²)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8028" y="4419600"/>
            <a:ext cx="190495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17E86"/>
                </a:solidFill>
                <a:latin typeface="Segoe UI"/>
              </a:rPr>
              <a:t>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10304" y="4610100"/>
            <a:ext cx="2285942" cy="3619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66F"/>
                </a:solidFill>
                <a:latin typeface="Segoe UI"/>
              </a:rPr>
              <a:t>Couverture unitaire 100% 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8028" y="4972050"/>
            <a:ext cx="190495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17E86"/>
                </a:solidFill>
                <a:latin typeface="Segoe UI"/>
              </a:rPr>
              <a:t>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10304" y="5162550"/>
            <a:ext cx="2285942" cy="361950"/>
          </a:xfrm>
          <a:prstGeom prst="roundRect">
            <a:avLst/>
          </a:prstGeom>
          <a:solidFill>
            <a:srgbClr val="EC6608"/>
          </a:solidFill>
          <a:ln w="19050">
            <a:solidFill>
              <a:srgbClr val="EC66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Intégrité fonctionnelle préservée 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0990" y="6667500"/>
            <a:ext cx="4762380" cy="152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AA"/>
                </a:solidFill>
                <a:latin typeface="Segoe UI"/>
              </a:rPr>
              <a:t>llm-shared - Auto-revue en pratique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53476" y="6667500"/>
            <a:ext cx="857228" cy="152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AA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0990" y="114300"/>
            <a:ext cx="4762380" cy="3810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0566F"/>
                </a:solidFill>
                <a:latin typeface="Segoe UI"/>
              </a:rPr>
              <a:t>Uptevia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17E86"/>
                </a:solidFill>
                <a:latin typeface="Segoe UI"/>
              </a:rPr>
              <a:t>CORPORATE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29314" y="190500"/>
            <a:ext cx="4381390" cy="1905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7E86"/>
                </a:solidFill>
                <a:latin typeface="Segoe UI"/>
              </a:rPr>
              <a:t>3. Auto-revue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52450"/>
            <a:ext cx="7315017" cy="47625"/>
          </a:xfrm>
          <a:prstGeom prst="rect">
            <a:avLst/>
          </a:prstGeom>
          <a:solidFill>
            <a:srgbClr val="005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552450"/>
            <a:ext cx="4876678" cy="47625"/>
          </a:xfrm>
          <a:prstGeom prst="rect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6238" y="685800"/>
            <a:ext cx="11239219" cy="4191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566F"/>
                </a:solidFill>
                <a:latin typeface="Segoe UI"/>
              </a:rPr>
              <a:t>Auto-revue documentaire : un exemple réel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38" y="1104900"/>
            <a:ext cx="11239219" cy="2667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17E86"/>
                </a:solidFill>
                <a:latin typeface="Segoe UI"/>
              </a:rPr>
              <a:t>pdfsplitter v9.1.0 « date validation » : de la phrase ambiguë à la décision tracée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6238" y="1447800"/>
            <a:ext cx="11239219" cy="495299"/>
          </a:xfrm>
          <a:prstGeom prst="roundRect">
            <a:avLst/>
          </a:prstGeom>
          <a:solidFill>
            <a:srgbClr val="FFF3E6"/>
          </a:solidFill>
          <a:ln w="19050">
            <a:solidFill>
              <a:srgbClr val="EC66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C6608"/>
                </a:solidFill>
                <a:latin typeface="Segoe UI"/>
              </a:rPr>
              <a:t>AVANT   </a:t>
            </a:r>
            <a:r>
              <a:rPr sz="1100" b="0" i="1">
                <a:solidFill>
                  <a:srgbClr val="EC6608"/>
                </a:solidFill>
                <a:latin typeface="Segoe UI"/>
              </a:rPr>
              <a:t>"If the date in the filename is invalid, the file is renamed _DATE_INCOHERENTE and not processed."</a:t>
            </a:r>
            <a:r>
              <a:rPr sz="1100" b="0" i="0">
                <a:solidFill>
                  <a:srgbClr val="EC6608"/>
                </a:solidFill>
                <a:latin typeface="Segoe UI"/>
              </a:rPr>
              <a:t>  — « invalid » cache deux cas différents.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38" y="1981199"/>
            <a:ext cx="11239219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17E86"/>
                </a:solidFill>
                <a:latin typeface="Segoe UI"/>
              </a:rPr>
              <a:t>▼  </a:t>
            </a:r>
            <a:r>
              <a:rPr sz="1000" b="1" i="0">
                <a:solidFill>
                  <a:srgbClr val="EC6608"/>
                </a:solidFill>
                <a:latin typeface="Segoe UI"/>
              </a:rPr>
              <a:t>/review-ask-questions</a:t>
            </a:r>
            <a:r>
              <a:rPr sz="1000" b="0" i="0">
                <a:solidFill>
                  <a:srgbClr val="717E86"/>
                </a:solidFill>
                <a:latin typeface="Segoe UI"/>
              </a:rPr>
              <a:t> : l'IA détecte l'ambiguïté et pose Q01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6238" y="2209800"/>
            <a:ext cx="5524361" cy="762000"/>
          </a:xfrm>
          <a:prstGeom prst="roundRect">
            <a:avLst/>
          </a:prstGeom>
          <a:solidFill>
            <a:srgbClr val="E6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0535" y="2286000"/>
            <a:ext cx="5314817" cy="6286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0566F"/>
                </a:solidFill>
                <a:latin typeface="Segoe UI"/>
              </a:rPr>
              <a:t>Q01 — version verbeuse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55555"/>
                </a:solidFill>
                <a:latin typeface="Segoe UI"/>
              </a:rPr>
              <a:t>"Should an eight-digit token failing calendar-level plausibility verification be assimilated to the incoherence semantics of the ten-year window rule…?"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1095" y="2209800"/>
            <a:ext cx="5524361" cy="762000"/>
          </a:xfrm>
          <a:prstGeom prst="roundRect">
            <a:avLst/>
          </a:prstGeom>
          <a:solidFill>
            <a:srgbClr val="E6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1095" y="2209800"/>
            <a:ext cx="47623" cy="762000"/>
          </a:xfrm>
          <a:prstGeom prst="rect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5392" y="2286000"/>
            <a:ext cx="5314817" cy="6286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0566F"/>
                </a:solidFill>
                <a:latin typeface="Segoe UI"/>
              </a:rPr>
              <a:t>Q01 — la même, lisible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55555"/>
                </a:solidFill>
                <a:latin typeface="Segoe UI"/>
              </a:rPr>
              <a:t>"When the token is not a real date (like 32132024): block the file, or just use today's date?"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6238" y="3028950"/>
            <a:ext cx="3619409" cy="80010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535" y="3105150"/>
            <a:ext cx="3409864" cy="6667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0566F"/>
                </a:solidFill>
                <a:latin typeface="Segoe UI"/>
              </a:rPr>
              <a:t>A1 — Block the file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55555"/>
                </a:solidFill>
                <a:latin typeface="Segoe UI"/>
              </a:rPr>
              <a:t>✓ operator sees every odd token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55555"/>
                </a:solidFill>
                <a:latin typeface="Segoe UI"/>
              </a:rPr>
              <a:t>✗ goes beyond the CDC rule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86142" y="3028950"/>
            <a:ext cx="3619409" cy="800100"/>
          </a:xfrm>
          <a:prstGeom prst="roundRect">
            <a:avLst/>
          </a:prstGeom>
          <a:solidFill>
            <a:srgbClr val="E6F0F3"/>
          </a:solidFill>
          <a:ln w="19050">
            <a:solidFill>
              <a:srgbClr val="005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0439" y="3105150"/>
            <a:ext cx="3409864" cy="6667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0566F"/>
                </a:solidFill>
                <a:latin typeface="Segoe UI"/>
              </a:rPr>
              <a:t>A2 — Use today's date ★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55555"/>
                </a:solidFill>
                <a:latin typeface="Segoe UI"/>
              </a:rPr>
              <a:t>✓ matches the CDC, backward compatible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55555"/>
                </a:solidFill>
                <a:latin typeface="Segoe UI"/>
              </a:rPr>
              <a:t>✗ a typo is processed silently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6047" y="3028950"/>
            <a:ext cx="3619409" cy="80010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0344" y="3105150"/>
            <a:ext cx="3409864" cy="6667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0566F"/>
                </a:solidFill>
                <a:latin typeface="Segoe UI"/>
              </a:rPr>
              <a:t>A3 — Fuzzy typo filter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55555"/>
                </a:solidFill>
                <a:latin typeface="Segoe UI"/>
              </a:rPr>
              <a:t>✓ catches likely typos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55555"/>
                </a:solidFill>
                <a:latin typeface="Segoe UI"/>
              </a:rPr>
              <a:t>✗ arbitrary, hard to test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6238" y="3886200"/>
            <a:ext cx="5524361" cy="68580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0535" y="3962399"/>
            <a:ext cx="5314817" cy="5524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0566F"/>
                </a:solidFill>
                <a:latin typeface="Segoe UI"/>
              </a:rPr>
              <a:t>Réponse pré-remplie par l'IA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55555"/>
                </a:solidFill>
                <a:latin typeface="Segoe UI"/>
              </a:rPr>
              <a:t>"Answer to Q01: option A2 — matches the CDC scope and the behavior in production."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1095" y="3886200"/>
            <a:ext cx="5524361" cy="685800"/>
          </a:xfrm>
          <a:prstGeom prst="roundRect">
            <a:avLst/>
          </a:prstGeom>
          <a:solidFill>
            <a:srgbClr val="F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5392" y="3962399"/>
            <a:ext cx="5314817" cy="5524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EC6608"/>
                </a:solidFill>
                <a:latin typeface="Segoe UI"/>
              </a:rPr>
              <a:t>[STOP] Réponse humaine — libre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55555"/>
                </a:solidFill>
                <a:latin typeface="Segoe UI"/>
              </a:rPr>
              <a:t>"Answer to Q01: A4 — today's date, but log a WARNING." </a:t>
            </a:r>
            <a:r>
              <a:rPr sz="1000" b="0" i="0">
                <a:solidFill>
                  <a:srgbClr val="555555"/>
                </a:solidFill>
                <a:latin typeface="Segoe UI"/>
              </a:rPr>
              <a:t>Un 4e choix est permis.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238" y="4610100"/>
            <a:ext cx="11239219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17E86"/>
                </a:solidFill>
                <a:latin typeface="Segoe UI"/>
              </a:rPr>
              <a:t>▼  </a:t>
            </a:r>
            <a:r>
              <a:rPr sz="1000" b="1" i="0">
                <a:solidFill>
                  <a:srgbClr val="EC6608"/>
                </a:solidFill>
                <a:latin typeface="Segoe UI"/>
              </a:rPr>
              <a:t>/consolidate-then-review-ask-questions</a:t>
            </a:r>
            <a:r>
              <a:rPr sz="1000" b="0" i="0">
                <a:solidFill>
                  <a:srgbClr val="717E86"/>
                </a:solidFill>
                <a:latin typeface="Segoe UI"/>
              </a:rPr>
              <a:t> : la réponse est pliée dans le document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6238" y="4838700"/>
            <a:ext cx="11239219" cy="59055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8634" y="4895850"/>
            <a:ext cx="476238" cy="4762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0566F"/>
                </a:solidFill>
                <a:latin typeface="Segoe UI"/>
              </a:rPr>
              <a:t>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Segoe UI"/>
              </a:rPr>
              <a:t>Q01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0119" y="4895850"/>
            <a:ext cx="3428914" cy="4762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0566F"/>
                </a:solidFill>
                <a:latin typeface="Segoe UI"/>
              </a:rPr>
              <a:t>Question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Segoe UI"/>
              </a:rPr>
              <a:t>Impossible date: incoherent or missing?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24281" y="4895850"/>
            <a:ext cx="2381190" cy="4762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0566F"/>
                </a:solidFill>
                <a:latin typeface="Segoe UI"/>
              </a:rPr>
              <a:t>Chosen option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Segoe UI"/>
              </a:rPr>
              <a:t>A2 + WARNING (A4)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0719" y="4895850"/>
            <a:ext cx="4381390" cy="4762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0566F"/>
                </a:solidFill>
                <a:latin typeface="Segoe UI"/>
              </a:rPr>
              <a:t>Rationale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Segoe UI"/>
              </a:rPr>
              <a:t>CDC scopes "incoherent" to the 10-year window.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6238" y="5486400"/>
            <a:ext cx="11239219" cy="533400"/>
          </a:xfrm>
          <a:prstGeom prst="roundRect">
            <a:avLst/>
          </a:prstGeom>
          <a:solidFill>
            <a:srgbClr val="006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APRÈS   </a:t>
            </a:r>
            <a:r>
              <a:rPr sz="1100" b="0" i="1">
                <a:solidFill>
                  <a:srgbClr val="FFFFFF"/>
                </a:solidFill>
                <a:latin typeface="Segoe UI"/>
              </a:rPr>
              <a:t>"A real date outside [today - 10 years, today] → file renamed, not processed. A token that is not a real date → missing date: the process starts with today's date."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0990" y="6667500"/>
            <a:ext cx="4762380" cy="152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AA"/>
                </a:solidFill>
                <a:latin typeface="Segoe UI"/>
              </a:rPr>
              <a:t>llm-shared - Auto-revue : exemple documentaire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53476" y="6667500"/>
            <a:ext cx="857228" cy="152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AA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0990" y="114300"/>
            <a:ext cx="4762380" cy="3810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0566F"/>
                </a:solidFill>
                <a:latin typeface="Segoe UI"/>
              </a:rPr>
              <a:t>Uptevia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17E86"/>
                </a:solidFill>
                <a:latin typeface="Segoe UI"/>
              </a:rPr>
              <a:t>CORPORATE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29314" y="190500"/>
            <a:ext cx="4381390" cy="1905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7E86"/>
                </a:solidFill>
                <a:latin typeface="Segoe UI"/>
              </a:rPr>
              <a:t>3. Auto-revue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52450"/>
            <a:ext cx="7315017" cy="47625"/>
          </a:xfrm>
          <a:prstGeom prst="rect">
            <a:avLst/>
          </a:prstGeom>
          <a:solidFill>
            <a:srgbClr val="005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552450"/>
            <a:ext cx="4876678" cy="47625"/>
          </a:xfrm>
          <a:prstGeom prst="rect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6238" y="685800"/>
            <a:ext cx="11239219" cy="4191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566F"/>
                </a:solidFill>
                <a:latin typeface="Segoe UI"/>
              </a:rPr>
              <a:t>Auto-revue d'implémentation : un exemple réel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38" y="1104900"/>
            <a:ext cx="11239219" cy="2667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17E86"/>
                </a:solidFill>
                <a:latin typeface="Segoe UI"/>
              </a:rPr>
              <a:t>pdfsplitter v9.11.0 : le plan disait « fait », la revue du comportement réel a trouvé le morceau manquant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6238" y="1619250"/>
            <a:ext cx="5524361" cy="1047749"/>
          </a:xfrm>
          <a:prstGeom prst="roundRect">
            <a:avLst/>
          </a:prstGeom>
          <a:solidFill>
            <a:srgbClr val="E6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0535" y="1695450"/>
            <a:ext cx="5314817" cy="914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0566F"/>
                </a:solidFill>
                <a:latin typeface="Segoe UI"/>
              </a:rPr>
              <a:t>🎯 Ce que le plan demandait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55555"/>
                </a:solidFill>
                <a:latin typeface="Segoe UI"/>
              </a:rPr>
              <a:t>Show the preparation progress in two places: the live widget on screen, and the progress log file that operators read.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1095" y="1619250"/>
            <a:ext cx="5524361" cy="1047749"/>
          </a:xfrm>
          <a:prstGeom prst="roundRect">
            <a:avLst/>
          </a:prstGeom>
          <a:solidFill>
            <a:srgbClr val="FFF3E6"/>
          </a:solidFill>
          <a:ln w="19050">
            <a:solidFill>
              <a:srgbClr val="EC66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5392" y="1695450"/>
            <a:ext cx="5314817" cy="914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EC6608"/>
                </a:solidFill>
                <a:latin typeface="Segoe UI"/>
              </a:rPr>
              <a:t>AVANT — Implémenté au premier jet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55555"/>
                </a:solidFill>
                <a:latin typeface="Segoe UI"/>
              </a:rPr>
              <a:t>The widget shows the progress, live. The log file is ready to display it too. All tests are green. 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238" y="2781300"/>
            <a:ext cx="11239219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17E86"/>
                </a:solidFill>
                <a:latin typeface="Segoe UI"/>
              </a:rPr>
              <a:t>▼  </a:t>
            </a:r>
            <a:r>
              <a:rPr sz="1000" b="1" i="0">
                <a:solidFill>
                  <a:srgbClr val="EC6608"/>
                </a:solidFill>
                <a:latin typeface="Segoe UI"/>
              </a:rPr>
              <a:t>/implementation-check</a:t>
            </a:r>
            <a:r>
              <a:rPr sz="1000" b="0" i="0">
                <a:solidFill>
                  <a:srgbClr val="717E86"/>
                </a:solidFill>
                <a:latin typeface="Segoe UI"/>
              </a:rPr>
              <a:t> + revue du comportement réel → </a:t>
            </a:r>
            <a:r>
              <a:rPr sz="1000" b="1" i="0">
                <a:solidFill>
                  <a:srgbClr val="EC6608"/>
                </a:solidFill>
                <a:latin typeface="Segoe UI"/>
              </a:rPr>
              <a:t>verdict : Non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6238" y="3048000"/>
            <a:ext cx="5524361" cy="190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660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0535" y="3124200"/>
            <a:ext cx="5314817" cy="17716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EC6608"/>
                </a:solidFill>
                <a:latin typeface="Segoe UI"/>
              </a:rPr>
              <a:t>🔍 L'écart détecté par la revue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55555"/>
                </a:solidFill>
                <a:latin typeface="Segoe UI"/>
              </a:rPr>
              <a:t>The log file never receives the progress. The widget moves forward, but the file stays frozen on an old value. The display side was built — the part that writes the progress into the file was not.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EC6608"/>
                </a:solidFill>
                <a:latin typeface="Segoe UI"/>
              </a:rPr>
              <a:t>Why did it slip through? </a:t>
            </a:r>
            <a:r>
              <a:rPr sz="1050" b="0" i="0">
                <a:solidFill>
                  <a:srgbClr val="555555"/>
                </a:solidFill>
                <a:latin typeface="Segoe UI"/>
              </a:rPr>
              <a:t>The AI built each half separately — and tested each half separately: the widget with live data, the log display with a hand-written file. Both halves pass. The wire between them was never written, so no test could fail.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1095" y="3048000"/>
            <a:ext cx="5524361" cy="1905000"/>
          </a:xfrm>
          <a:prstGeom prst="roundRect">
            <a:avLst/>
          </a:prstGeom>
          <a:solidFill>
            <a:srgbClr val="E6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5392" y="3124200"/>
            <a:ext cx="5314817" cy="17716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0566F"/>
                </a:solidFill>
                <a:latin typeface="Segoe UI"/>
              </a:rPr>
              <a:t>🔧 Le correctif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55555"/>
                </a:solidFill>
                <a:latin typeface="Segoe UI"/>
              </a:rPr>
              <a:t>One fix commit: recognize the progress signal during preparation, pass the counters to the file before each write, and keep a preparation update from blocking the next splitting update.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0566F"/>
                </a:solidFill>
                <a:latin typeface="Segoe UI"/>
              </a:rPr>
              <a:t>Plus the missing test: </a:t>
            </a:r>
            <a:r>
              <a:rPr sz="1050" b="0" i="0">
                <a:solidFill>
                  <a:srgbClr val="555555"/>
                </a:solidFill>
                <a:latin typeface="Segoe UI"/>
              </a:rPr>
              <a:t>a new test now follows the progress end to end, from the running phase to the file content — the gap can no longer come back.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238" y="5067300"/>
            <a:ext cx="11239219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17E86"/>
                </a:solidFill>
                <a:latin typeface="Segoe UI"/>
              </a:rPr>
              <a:t>▼  </a:t>
            </a:r>
            <a:r>
              <a:rPr sz="1000" b="0" i="0">
                <a:solidFill>
                  <a:srgbClr val="717E86"/>
                </a:solidFill>
                <a:latin typeface="Segoe UI"/>
              </a:rPr>
              <a:t>nouvelle passe </a:t>
            </a:r>
            <a:r>
              <a:rPr sz="1000" b="1" i="0">
                <a:solidFill>
                  <a:srgbClr val="EC6608"/>
                </a:solidFill>
                <a:latin typeface="Segoe UI"/>
              </a:rPr>
              <a:t>/implementation-check</a:t>
            </a:r>
            <a:r>
              <a:rPr sz="1000" b="0" i="0">
                <a:solidFill>
                  <a:srgbClr val="717E86"/>
                </a:solidFill>
                <a:latin typeface="Segoe UI"/>
              </a:rPr>
              <a:t> → </a:t>
            </a:r>
            <a:r>
              <a:rPr sz="1000" b="1" i="0">
                <a:solidFill>
                  <a:srgbClr val="006D67"/>
                </a:solidFill>
                <a:latin typeface="Segoe UI"/>
              </a:rPr>
              <a:t>verdict : Oui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6238" y="5334000"/>
            <a:ext cx="11239219" cy="666750"/>
          </a:xfrm>
          <a:prstGeom prst="roundRect">
            <a:avLst/>
          </a:prstGeom>
          <a:solidFill>
            <a:srgbClr val="006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APRÈS   </a:t>
            </a:r>
            <a:r>
              <a:rPr sz="1100" b="0" i="0">
                <a:solidFill>
                  <a:srgbClr val="FFFFFF"/>
                </a:solidFill>
                <a:latin typeface="Segoe UI"/>
              </a:rPr>
              <a:t>The log file now moves at the same pace as the widget: operators see the same progress in both places. Three new tests lock the behavior — full suite green, coverage 100%.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990" y="6667500"/>
            <a:ext cx="4762380" cy="152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AA"/>
                </a:solidFill>
                <a:latin typeface="Segoe UI"/>
              </a:rPr>
              <a:t>llm-shared - Auto-revue : exemple implémentation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53476" y="6667500"/>
            <a:ext cx="857228" cy="152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AA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0990" y="114300"/>
            <a:ext cx="4762380" cy="3810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0566F"/>
                </a:solidFill>
                <a:latin typeface="Segoe UI"/>
              </a:rPr>
              <a:t>Uptevia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17E86"/>
                </a:solidFill>
                <a:latin typeface="Segoe UI"/>
              </a:rPr>
              <a:t>CORPORATE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29314" y="190500"/>
            <a:ext cx="4381390" cy="1905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7E86"/>
                </a:solidFill>
                <a:latin typeface="Segoe UI"/>
              </a:rPr>
              <a:t>4. Vue d'ensemble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52450"/>
            <a:ext cx="7315017" cy="47625"/>
          </a:xfrm>
          <a:prstGeom prst="rect">
            <a:avLst/>
          </a:prstGeom>
          <a:solidFill>
            <a:srgbClr val="005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552450"/>
            <a:ext cx="4876678" cy="47625"/>
          </a:xfrm>
          <a:prstGeom prst="rect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6238" y="685800"/>
            <a:ext cx="11239219" cy="4191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566F"/>
                </a:solidFill>
                <a:latin typeface="Segoe UI"/>
              </a:rPr>
              <a:t>Vue d'ensemble du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38" y="1104900"/>
            <a:ext cx="11239219" cy="2667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17E86"/>
                </a:solidFill>
                <a:latin typeface="Segoe UI"/>
              </a:rPr>
              <a:t>Du brouillon à la release taguée : phases et artefacts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6238" y="1524000"/>
            <a:ext cx="1142971" cy="381000"/>
          </a:xfrm>
          <a:prstGeom prst="roundRect">
            <a:avLst/>
          </a:prstGeom>
          <a:solidFill>
            <a:srgbClr val="005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Brouillon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259" y="1619250"/>
            <a:ext cx="228594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17E86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04952" y="1524000"/>
            <a:ext cx="9810504" cy="381000"/>
          </a:xfrm>
          <a:prstGeom prst="roundRect">
            <a:avLst/>
          </a:prstGeom>
          <a:solidFill>
            <a:srgbClr val="E6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Segoe UI"/>
              </a:rPr>
              <a:t>Note libre → </a:t>
            </a:r>
            <a:r>
              <a:rPr sz="1000" b="0" i="0">
                <a:solidFill>
                  <a:srgbClr val="EC6608"/>
                </a:solidFill>
                <a:latin typeface="Segoe UI"/>
              </a:rPr>
              <a:t>/process-draft</a:t>
            </a:r>
            <a:r>
              <a:rPr sz="1000" b="0" i="0">
                <a:solidFill>
                  <a:srgbClr val="333333"/>
                </a:solidFill>
                <a:latin typeface="Segoe UI"/>
              </a:rPr>
              <a:t> → classification, renommage, branche d'effort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6238" y="2019300"/>
            <a:ext cx="1142971" cy="381000"/>
          </a:xfrm>
          <a:prstGeom prst="roundRect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Exigence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8259" y="2114550"/>
            <a:ext cx="228594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17E86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04952" y="2019300"/>
            <a:ext cx="9810504" cy="381000"/>
          </a:xfrm>
          <a:prstGeom prst="roundRect">
            <a:avLst/>
          </a:prstGeom>
          <a:solidFill>
            <a:srgbClr val="F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C6608"/>
                </a:solidFill>
                <a:latin typeface="Segoe UI"/>
              </a:rPr>
              <a:t>/write-requirement</a:t>
            </a:r>
            <a:r>
              <a:rPr sz="1000" b="0" i="0">
                <a:solidFill>
                  <a:srgbClr val="333333"/>
                </a:solidFill>
                <a:latin typeface="Segoe UI"/>
              </a:rPr>
              <a:t> → boucle de revue → </a:t>
            </a:r>
            <a:r>
              <a:rPr sz="1000" b="0" i="0">
                <a:solidFill>
                  <a:srgbClr val="EC6608"/>
                </a:solidFill>
                <a:latin typeface="Segoe UI"/>
              </a:rPr>
              <a:t>/review-ask-questions</a:t>
            </a:r>
            <a:r>
              <a:rPr sz="1000" b="0" i="0">
                <a:solidFill>
                  <a:srgbClr val="333333"/>
                </a:solidFill>
                <a:latin typeface="Segoe UI"/>
              </a:rPr>
              <a:t> + </a:t>
            </a:r>
            <a:r>
              <a:rPr sz="1000" b="0" i="0">
                <a:solidFill>
                  <a:srgbClr val="EC6608"/>
                </a:solidFill>
                <a:latin typeface="Segoe UI"/>
              </a:rPr>
              <a:t>/consolidate</a:t>
            </a:r>
            <a:r>
              <a:rPr sz="1000" b="0" i="0">
                <a:solidFill>
                  <a:srgbClr val="333333"/>
                </a:solidFill>
                <a:latin typeface="Segoe UI"/>
              </a:rPr>
              <a:t> → document validé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6238" y="2514600"/>
            <a:ext cx="1142971" cy="381000"/>
          </a:xfrm>
          <a:prstGeom prst="roundRect">
            <a:avLst/>
          </a:prstGeom>
          <a:solidFill>
            <a:srgbClr val="005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8259" y="2609850"/>
            <a:ext cx="228594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17E86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04952" y="2514600"/>
            <a:ext cx="9810504" cy="381000"/>
          </a:xfrm>
          <a:prstGeom prst="roundRect">
            <a:avLst/>
          </a:prstGeom>
          <a:solidFill>
            <a:srgbClr val="E6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C6608"/>
                </a:solidFill>
                <a:latin typeface="Segoe UI"/>
              </a:rPr>
              <a:t>/write-design</a:t>
            </a:r>
            <a:r>
              <a:rPr sz="1000" b="0" i="0">
                <a:solidFill>
                  <a:srgbClr val="333333"/>
                </a:solidFill>
                <a:latin typeface="Segoe UI"/>
              </a:rPr>
              <a:t> → scope, contraintes, comportement cible, scénarios d'acceptation → revue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6238" y="3009900"/>
            <a:ext cx="1142971" cy="381000"/>
          </a:xfrm>
          <a:prstGeom prst="roundRect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38259" y="3105150"/>
            <a:ext cx="228594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17E86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04952" y="3009900"/>
            <a:ext cx="9810504" cy="381000"/>
          </a:xfrm>
          <a:prstGeom prst="roundRect">
            <a:avLst/>
          </a:prstGeom>
          <a:solidFill>
            <a:srgbClr val="F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C6608"/>
                </a:solidFill>
                <a:latin typeface="Segoe UI"/>
              </a:rPr>
              <a:t>/write-plans</a:t>
            </a:r>
            <a:r>
              <a:rPr sz="1000" b="0" i="0">
                <a:solidFill>
                  <a:srgbClr val="333333"/>
                </a:solidFill>
                <a:latin typeface="Segoe UI"/>
              </a:rPr>
              <a:t> → étapes numérotées, tests seuils (qui échouent d'abord), tests d'acceptation → revue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6238" y="3505200"/>
            <a:ext cx="1142971" cy="381000"/>
          </a:xfrm>
          <a:prstGeom prst="roundRect">
            <a:avLst/>
          </a:prstGeom>
          <a:solidFill>
            <a:srgbClr val="005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Implé.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259" y="3600450"/>
            <a:ext cx="228594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17E86"/>
                </a:solidFill>
                <a:latin typeface="Segoe U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04952" y="3505200"/>
            <a:ext cx="9810504" cy="381000"/>
          </a:xfrm>
          <a:prstGeom prst="roundRect">
            <a:avLst/>
          </a:prstGeom>
          <a:solidFill>
            <a:srgbClr val="E6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C6608"/>
                </a:solidFill>
                <a:latin typeface="Segoe UI"/>
              </a:rPr>
              <a:t>/implement-step N</a:t>
            </a:r>
            <a:r>
              <a:rPr sz="1000" b="0" i="0">
                <a:solidFill>
                  <a:srgbClr val="333333"/>
                </a:solidFill>
                <a:latin typeface="Segoe UI"/>
              </a:rPr>
              <a:t> → </a:t>
            </a:r>
            <a:r>
              <a:rPr sz="1000" b="0" i="0">
                <a:solidFill>
                  <a:srgbClr val="EC6608"/>
                </a:solidFill>
                <a:latin typeface="Segoe UI"/>
              </a:rPr>
              <a:t>/implementation-check N</a:t>
            </a:r>
            <a:r>
              <a:rPr sz="1000" b="0" i="0">
                <a:solidFill>
                  <a:srgbClr val="333333"/>
                </a:solidFill>
                <a:latin typeface="Segoe UI"/>
              </a:rPr>
              <a:t> → commits groupés </a:t>
            </a:r>
            <a:r>
              <a:rPr sz="1000" b="0" i="0">
                <a:solidFill>
                  <a:srgbClr val="EC6608"/>
                </a:solidFill>
                <a:latin typeface="Segoe UI"/>
              </a:rPr>
              <a:t>gcba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6238" y="4000500"/>
            <a:ext cx="1142971" cy="381000"/>
          </a:xfrm>
          <a:prstGeom prst="roundRect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Release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38259" y="4095750"/>
            <a:ext cx="228594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17E86"/>
                </a:solidFill>
                <a:latin typeface="Segoe U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04952" y="4000500"/>
            <a:ext cx="9810504" cy="381000"/>
          </a:xfrm>
          <a:prstGeom prst="roundRect">
            <a:avLst/>
          </a:prstGeom>
          <a:solidFill>
            <a:srgbClr val="F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C6608"/>
                </a:solidFill>
                <a:latin typeface="Segoe UI"/>
              </a:rPr>
              <a:t>/prepare-release</a:t>
            </a:r>
            <a:r>
              <a:rPr sz="1000" b="0" i="0">
                <a:solidFill>
                  <a:srgbClr val="333333"/>
                </a:solidFill>
                <a:latin typeface="Segoe UI"/>
              </a:rPr>
              <a:t> → merge + reword + notes → </a:t>
            </a:r>
            <a:r>
              <a:rPr sz="1000" b="0" i="0">
                <a:solidFill>
                  <a:srgbClr val="EC6608"/>
                </a:solidFill>
                <a:latin typeface="Segoe UI"/>
              </a:rPr>
              <a:t>brel</a:t>
            </a:r>
            <a:r>
              <a:rPr sz="1000" b="0" i="0">
                <a:solidFill>
                  <a:srgbClr val="333333"/>
                </a:solidFill>
                <a:latin typeface="Segoe UI"/>
              </a:rPr>
              <a:t> → tag vX.Y.Z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238" y="4543425"/>
            <a:ext cx="11239219" cy="28575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C6608"/>
                </a:solidFill>
                <a:latin typeface="Segoe UI"/>
              </a:rPr>
              <a:t>pw skill</a:t>
            </a:r>
            <a:r>
              <a:rPr sz="1050" b="0" i="0">
                <a:solidFill>
                  <a:srgbClr val="717E86"/>
                </a:solidFill>
                <a:latin typeface="Segoe UI"/>
              </a:rPr>
              <a:t> enchaîne automatiquement les phases documentaires   ·   </a:t>
            </a:r>
            <a:r>
              <a:rPr sz="1050" b="1" i="0">
                <a:solidFill>
                  <a:srgbClr val="EC6608"/>
                </a:solidFill>
                <a:latin typeface="Segoe UI"/>
              </a:rPr>
              <a:t>pw handoff</a:t>
            </a:r>
            <a:r>
              <a:rPr sz="1050" b="0" i="0">
                <a:solidFill>
                  <a:srgbClr val="717E86"/>
                </a:solidFill>
                <a:latin typeface="Segoe UI"/>
              </a:rPr>
              <a:t> enchaîne les étapes d'implémentation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0990" y="6667500"/>
            <a:ext cx="4762380" cy="152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AA"/>
                </a:solidFill>
                <a:latin typeface="Segoe UI"/>
              </a:rPr>
              <a:t>llm-shared - Vue d'ensemble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53476" y="6667500"/>
            <a:ext cx="857228" cy="152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AA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0990" y="114300"/>
            <a:ext cx="4762380" cy="3810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0566F"/>
                </a:solidFill>
                <a:latin typeface="Segoe UI"/>
              </a:rPr>
              <a:t>Uptevia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17E86"/>
                </a:solidFill>
                <a:latin typeface="Segoe UI"/>
              </a:rPr>
              <a:t>CORPORATE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29314" y="190500"/>
            <a:ext cx="4381390" cy="1905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7E86"/>
                </a:solidFill>
                <a:latin typeface="Segoe UI"/>
              </a:rPr>
              <a:t>5. Phase documentaire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52450"/>
            <a:ext cx="7315017" cy="47625"/>
          </a:xfrm>
          <a:prstGeom prst="rect">
            <a:avLst/>
          </a:prstGeom>
          <a:solidFill>
            <a:srgbClr val="005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552450"/>
            <a:ext cx="4876678" cy="47625"/>
          </a:xfrm>
          <a:prstGeom prst="rect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6238" y="685800"/>
            <a:ext cx="11239219" cy="4191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566F"/>
                </a:solidFill>
                <a:latin typeface="Segoe UI"/>
              </a:rPr>
              <a:t>Phase documentaire : automatisée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38" y="1104900"/>
            <a:ext cx="11239219" cy="2667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17E86"/>
                </a:solidFill>
                <a:latin typeface="Segoe UI"/>
              </a:rPr>
              <a:t>pw skill enchaîne les phases sans menu ni intervention humaine (sauf revue)</a:t>
            </a:r>
          </a:p>
        </p:txBody>
      </p:sp>
      <p:sp>
        <p:nvSpPr>
          <p:cNvPr id="8" name="Oval 7"/>
          <p:cNvSpPr/>
          <p:nvPr/>
        </p:nvSpPr>
        <p:spPr>
          <a:xfrm>
            <a:off x="476238" y="1504950"/>
            <a:ext cx="419089" cy="419100"/>
          </a:xfrm>
          <a:prstGeom prst="ellipse">
            <a:avLst/>
          </a:prstGeom>
          <a:solidFill>
            <a:srgbClr val="005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7723" y="1504950"/>
            <a:ext cx="8953276" cy="419100"/>
          </a:xfrm>
          <a:prstGeom prst="roundRect">
            <a:avLst/>
          </a:prstGeom>
          <a:solidFill>
            <a:srgbClr val="E6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566F"/>
                </a:solidFill>
                <a:latin typeface="Segoe UI"/>
              </a:rPr>
              <a:t>/write-requirement</a:t>
            </a:r>
            <a:r>
              <a:rPr sz="1000" b="0" i="0">
                <a:solidFill>
                  <a:srgbClr val="666666"/>
                </a:solidFill>
                <a:latin typeface="Segoe UI"/>
              </a:rPr>
              <a:t>  : écrit le document d'exigence (feature-request ou issue)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39119" y="1504950"/>
            <a:ext cx="1476338" cy="4191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C6608"/>
                </a:solidFill>
                <a:latin typeface="Segoe UI"/>
              </a:rPr>
              <a:t>== pw skill ==&gt;</a:t>
            </a:r>
          </a:p>
        </p:txBody>
      </p:sp>
      <p:sp>
        <p:nvSpPr>
          <p:cNvPr id="11" name="Oval 10"/>
          <p:cNvSpPr/>
          <p:nvPr/>
        </p:nvSpPr>
        <p:spPr>
          <a:xfrm>
            <a:off x="476238" y="2133600"/>
            <a:ext cx="419089" cy="419100"/>
          </a:xfrm>
          <a:prstGeom prst="ellipse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7723" y="2133600"/>
            <a:ext cx="8953276" cy="419100"/>
          </a:xfrm>
          <a:prstGeom prst="roundRect">
            <a:avLst/>
          </a:prstGeom>
          <a:solidFill>
            <a:srgbClr val="F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C6608"/>
                </a:solidFill>
                <a:latin typeface="Segoe UI"/>
              </a:rPr>
              <a:t>/review-ask-questions</a:t>
            </a:r>
            <a:r>
              <a:rPr sz="1000" b="0" i="0">
                <a:solidFill>
                  <a:srgbClr val="666666"/>
                </a:solidFill>
                <a:latin typeface="Segoe UI"/>
              </a:rPr>
              <a:t>  : l'IA pose des questions ouvertes avec options et recommandations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39119" y="2190750"/>
            <a:ext cx="1476338" cy="304800"/>
          </a:xfrm>
          <a:prstGeom prst="roundRect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[STOP]</a:t>
            </a:r>
          </a:p>
        </p:txBody>
      </p:sp>
      <p:sp>
        <p:nvSpPr>
          <p:cNvPr id="14" name="Oval 13"/>
          <p:cNvSpPr/>
          <p:nvPr/>
        </p:nvSpPr>
        <p:spPr>
          <a:xfrm>
            <a:off x="476238" y="2762250"/>
            <a:ext cx="419089" cy="419100"/>
          </a:xfrm>
          <a:prstGeom prst="ellipse">
            <a:avLst/>
          </a:prstGeom>
          <a:solidFill>
            <a:srgbClr val="005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7723" y="2762250"/>
            <a:ext cx="8953276" cy="419100"/>
          </a:xfrm>
          <a:prstGeom prst="roundRect">
            <a:avLst/>
          </a:prstGeom>
          <a:solidFill>
            <a:srgbClr val="E6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566F"/>
                </a:solidFill>
                <a:latin typeface="Segoe UI"/>
              </a:rPr>
              <a:t>/consolidate-then-review-ask-questions</a:t>
            </a:r>
            <a:r>
              <a:rPr sz="1000" b="0" i="0">
                <a:solidFill>
                  <a:srgbClr val="666666"/>
                </a:solidFill>
                <a:latin typeface="Segoe UI"/>
              </a:rPr>
              <a:t>  : plie les réponses dans le document, repose des questions si besoin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39119" y="2762250"/>
            <a:ext cx="1476338" cy="4191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66F"/>
                </a:solidFill>
                <a:latin typeface="Segoe UI"/>
              </a:rPr>
              <a:t>↻ boucle</a:t>
            </a:r>
          </a:p>
        </p:txBody>
      </p:sp>
      <p:sp>
        <p:nvSpPr>
          <p:cNvPr id="17" name="Oval 16"/>
          <p:cNvSpPr/>
          <p:nvPr/>
        </p:nvSpPr>
        <p:spPr>
          <a:xfrm>
            <a:off x="476238" y="3390900"/>
            <a:ext cx="419089" cy="419100"/>
          </a:xfrm>
          <a:prstGeom prst="ellipse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7723" y="3390900"/>
            <a:ext cx="8953276" cy="419100"/>
          </a:xfrm>
          <a:prstGeom prst="roundRect">
            <a:avLst/>
          </a:prstGeom>
          <a:solidFill>
            <a:srgbClr val="F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C6608"/>
                </a:solidFill>
                <a:latin typeface="Segoe UI"/>
              </a:rPr>
              <a:t>/write-design</a:t>
            </a:r>
            <a:r>
              <a:rPr sz="1000" b="0" i="0">
                <a:solidFill>
                  <a:srgbClr val="666666"/>
                </a:solidFill>
                <a:latin typeface="Segoe UI"/>
              </a:rPr>
              <a:t>  : scope, contraintes, comportement cible, scénarios d'acceptation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39119" y="3390900"/>
            <a:ext cx="1476338" cy="4191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C6608"/>
                </a:solidFill>
                <a:latin typeface="Segoe UI"/>
              </a:rPr>
              <a:t>== pw skill ==&gt;</a:t>
            </a:r>
          </a:p>
        </p:txBody>
      </p:sp>
      <p:sp>
        <p:nvSpPr>
          <p:cNvPr id="20" name="Oval 19"/>
          <p:cNvSpPr/>
          <p:nvPr/>
        </p:nvSpPr>
        <p:spPr>
          <a:xfrm>
            <a:off x="476238" y="4019549"/>
            <a:ext cx="419089" cy="419100"/>
          </a:xfrm>
          <a:prstGeom prst="ellipse">
            <a:avLst/>
          </a:prstGeom>
          <a:solidFill>
            <a:srgbClr val="005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23" y="4019549"/>
            <a:ext cx="8953276" cy="419100"/>
          </a:xfrm>
          <a:prstGeom prst="roundRect">
            <a:avLst/>
          </a:prstGeom>
          <a:solidFill>
            <a:srgbClr val="E6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566F"/>
                </a:solidFill>
                <a:latin typeface="Segoe UI"/>
              </a:rPr>
              <a:t>/write-plans</a:t>
            </a:r>
            <a:r>
              <a:rPr sz="1000" b="0" i="0">
                <a:solidFill>
                  <a:srgbClr val="666666"/>
                </a:solidFill>
                <a:latin typeface="Segoe UI"/>
              </a:rPr>
              <a:t>  : plan d'exécution numéroté + plan de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39119" y="4019549"/>
            <a:ext cx="1476338" cy="4191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C6608"/>
                </a:solidFill>
                <a:latin typeface="Segoe UI"/>
              </a:rPr>
              <a:t>== pw skill ==&gt;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6238" y="4686300"/>
            <a:ext cx="11239219" cy="41910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566F"/>
                </a:solidFill>
                <a:latin typeface="Segoe UI"/>
              </a:rPr>
              <a:t>Le seul arrêt humain : répondre au tableau </a:t>
            </a:r>
            <a:r>
              <a:rPr sz="1100" b="1" i="0">
                <a:solidFill>
                  <a:srgbClr val="00566F"/>
                </a:solidFill>
                <a:latin typeface="Segoe UI"/>
              </a:rPr>
              <a:t>Q0x | Titre | Réponse recommandée</a:t>
            </a:r>
            <a:r>
              <a:rPr sz="1100" b="0" i="0">
                <a:solidFill>
                  <a:srgbClr val="00566F"/>
                </a:solidFill>
                <a:latin typeface="Segoe UI"/>
              </a:rPr>
              <a:t> lors des revues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0990" y="6667500"/>
            <a:ext cx="4762380" cy="152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AA"/>
                </a:solidFill>
                <a:latin typeface="Segoe UI"/>
              </a:rPr>
              <a:t>llm-shared - Phase documentaire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53476" y="6667500"/>
            <a:ext cx="857228" cy="152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AA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0990" y="114300"/>
            <a:ext cx="4762380" cy="3810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0566F"/>
                </a:solidFill>
                <a:latin typeface="Segoe UI"/>
              </a:rPr>
              <a:t>Uptevia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17E86"/>
                </a:solidFill>
                <a:latin typeface="Segoe UI"/>
              </a:rPr>
              <a:t>CORPORATE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29314" y="190500"/>
            <a:ext cx="4381390" cy="1905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7E86"/>
                </a:solidFill>
                <a:latin typeface="Segoe UI"/>
              </a:rPr>
              <a:t>6. Implémentation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52450"/>
            <a:ext cx="7315017" cy="47625"/>
          </a:xfrm>
          <a:prstGeom prst="rect">
            <a:avLst/>
          </a:prstGeom>
          <a:solidFill>
            <a:srgbClr val="005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552450"/>
            <a:ext cx="4876678" cy="47625"/>
          </a:xfrm>
          <a:prstGeom prst="rect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6238" y="685800"/>
            <a:ext cx="11239219" cy="4191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566F"/>
                </a:solidFill>
                <a:latin typeface="Segoe UI"/>
              </a:rPr>
              <a:t>Phase d'implémentation : chaîne automatisée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38" y="1104900"/>
            <a:ext cx="11239219" cy="2667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17E86"/>
                </a:solidFill>
                <a:latin typeface="Segoe UI"/>
              </a:rPr>
              <a:t>pw handoff enchaîne les étapes sans menu ni « go-ahead » entre les cases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6238" y="1504950"/>
            <a:ext cx="11239219" cy="2000250"/>
          </a:xfrm>
          <a:prstGeom prst="roundRect">
            <a:avLst/>
          </a:prstGeom>
          <a:noFill/>
          <a:ln w="19050">
            <a:solidFill>
              <a:srgbClr val="EC66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485" y="1600200"/>
            <a:ext cx="11048723" cy="20955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C6608"/>
                </a:solidFill>
                <a:latin typeface="Segoe UI"/>
              </a:rPr>
              <a:t>ZONE AUTOMATISÉE : un seul /implement-step N déclenche la chaîne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28" y="1952624"/>
            <a:ext cx="4762380" cy="628650"/>
          </a:xfrm>
          <a:prstGeom prst="roundRect">
            <a:avLst/>
          </a:prstGeom>
          <a:solidFill>
            <a:srgbClr val="005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/implement-step 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4D8DE"/>
                </a:solidFill>
                <a:latin typeface="Segoe UI"/>
              </a:rPr>
              <a:t>Code + tests · ghog day vert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7233" y="2143125"/>
            <a:ext cx="857228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17E86"/>
                </a:solidFill>
                <a:latin typeface="Segoe U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72085" y="1952624"/>
            <a:ext cx="4762380" cy="628650"/>
          </a:xfrm>
          <a:prstGeom prst="roundRect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/implementation-check 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3E6"/>
                </a:solidFill>
                <a:latin typeface="Segoe UI"/>
              </a:rPr>
              <a:t>Verdict Oui/Non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228" y="2714625"/>
            <a:ext cx="4762380" cy="628650"/>
          </a:xfrm>
          <a:prstGeom prst="roundRect">
            <a:avLst/>
          </a:prstGeom>
          <a:solidFill>
            <a:srgbClr val="717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↻ Non → /implement-missing-step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Combler les écarts, ghog day, re-check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7233" y="2905125"/>
            <a:ext cx="857228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17E86"/>
                </a:solidFill>
                <a:latin typeface="Segoe UI"/>
              </a:rPr>
              <a:t>ou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72085" y="2714625"/>
            <a:ext cx="4762380" cy="628650"/>
          </a:xfrm>
          <a:prstGeom prst="roundRect">
            <a:avLst/>
          </a:prstGeom>
          <a:solidFill>
            <a:srgbClr val="006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✓ Oui → /group-commits-msg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Messages de commit groupés → a.commit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6238" y="3695700"/>
            <a:ext cx="3619409" cy="1047749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6238" y="3695700"/>
            <a:ext cx="57148" cy="1047749"/>
          </a:xfrm>
          <a:prstGeom prst="rect">
            <a:avLst/>
          </a:prstGeom>
          <a:solidFill>
            <a:srgbClr val="005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634" y="3810000"/>
            <a:ext cx="3371765" cy="8572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0566F"/>
                </a:solidFill>
                <a:latin typeface="Segoe UI"/>
              </a:rPr>
              <a:t>🧪 Tests seuils d'abord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Segoe UI"/>
              </a:rPr>
              <a:t>Le plan commence par des tests qui échouent volontairement. Les étapes suivantes les font passer un par un.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6142" y="3695700"/>
            <a:ext cx="3619409" cy="1047749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86142" y="3695700"/>
            <a:ext cx="57148" cy="1047749"/>
          </a:xfrm>
          <a:prstGeom prst="rect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8539" y="3810000"/>
            <a:ext cx="3371765" cy="8572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0566F"/>
                </a:solidFill>
                <a:latin typeface="Segoe UI"/>
              </a:rPr>
              <a:t>📦 Commits groupés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Segoe UI"/>
              </a:rPr>
              <a:t>L'IA lit le diff, groupe les fichiers du moins dépendant au plus dépendant, écrit un message par groupe.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6047" y="3695700"/>
            <a:ext cx="3619409" cy="1047749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6047" y="3695700"/>
            <a:ext cx="57148" cy="1047749"/>
          </a:xfrm>
          <a:prstGeom prst="rect">
            <a:avLst/>
          </a:prstGeom>
          <a:solidFill>
            <a:srgbClr val="005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8443" y="3810000"/>
            <a:ext cx="3371765" cy="8572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0566F"/>
                </a:solidFill>
                <a:latin typeface="Segoe UI"/>
              </a:rPr>
              <a:t>🛑 Portail de commit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Segoe UI"/>
              </a:rPr>
              <a:t>La chaîne s'arrête à a.commit. L'auteur révise, dit « go ahead », puis gcba rejoue les commits.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0990" y="6667500"/>
            <a:ext cx="4762380" cy="152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AA"/>
                </a:solidFill>
                <a:latin typeface="Segoe UI"/>
              </a:rPr>
              <a:t>llm-shared - Implémentation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53476" y="6667500"/>
            <a:ext cx="857228" cy="152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AA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0990" y="114300"/>
            <a:ext cx="4762380" cy="3810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0566F"/>
                </a:solidFill>
                <a:latin typeface="Segoe UI"/>
              </a:rPr>
              <a:t>Uptevia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17E86"/>
                </a:solidFill>
                <a:latin typeface="Segoe UI"/>
              </a:rPr>
              <a:t>CORPORATE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29314" y="190500"/>
            <a:ext cx="4381390" cy="1905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7E86"/>
                </a:solidFill>
                <a:latin typeface="Segoe UI"/>
              </a:rPr>
              <a:t>7. Groundhog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52450"/>
            <a:ext cx="7315017" cy="47625"/>
          </a:xfrm>
          <a:prstGeom prst="rect">
            <a:avLst/>
          </a:prstGeom>
          <a:solidFill>
            <a:srgbClr val="005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552450"/>
            <a:ext cx="4876678" cy="47625"/>
          </a:xfrm>
          <a:prstGeom prst="rect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6238" y="685800"/>
            <a:ext cx="11239219" cy="4191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566F"/>
                </a:solidFill>
                <a:latin typeface="Segoe UI"/>
              </a:rPr>
              <a:t>Groundhog : la boucle de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38" y="1104900"/>
            <a:ext cx="11239219" cy="2667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17E86"/>
                </a:solidFill>
                <a:latin typeface="Segoe UI"/>
              </a:rPr>
              <a:t>Un seul outil remplace les anciens alias : ghog day marche la chaîne et s'arrête au premier problème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43371" y="1504950"/>
            <a:ext cx="1904952" cy="381000"/>
          </a:xfrm>
          <a:prstGeom prst="roundRect">
            <a:avLst/>
          </a:prstGeom>
          <a:solidFill>
            <a:srgbClr val="005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ghog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599" y="1905000"/>
            <a:ext cx="190495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17E86"/>
                </a:solidFill>
                <a:latin typeface="Segoe UI"/>
              </a:rP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71685" y="2171700"/>
            <a:ext cx="2095447" cy="590550"/>
          </a:xfrm>
          <a:prstGeom prst="roundRect">
            <a:avLst/>
          </a:prstGeom>
          <a:solidFill>
            <a:srgbClr val="E6F0F3"/>
          </a:solidFill>
          <a:ln w="19050">
            <a:solidFill>
              <a:srgbClr val="005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0566F"/>
                </a:solidFill>
                <a:latin typeface="Segoe UI"/>
              </a:rPr>
              <a:t>1. check.bat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Segoe UI"/>
              </a:rPr>
              <a:t>Compilation + lint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133" y="2333625"/>
            <a:ext cx="380990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17E86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8123" y="2171700"/>
            <a:ext cx="2095447" cy="590550"/>
          </a:xfrm>
          <a:prstGeom prst="roundRect">
            <a:avLst/>
          </a:prstGeom>
          <a:solidFill>
            <a:srgbClr val="FFF3E6"/>
          </a:solidFill>
          <a:ln w="19050">
            <a:solidFill>
              <a:srgbClr val="EC66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C6608"/>
                </a:solidFill>
                <a:latin typeface="Segoe UI"/>
              </a:rPr>
              <a:t>2. Tests affectés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Segoe UI"/>
              </a:rPr>
              <a:t>Rapide, sans couverture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3571" y="2333625"/>
            <a:ext cx="380990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17E86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4561" y="2171700"/>
            <a:ext cx="2095447" cy="590550"/>
          </a:xfrm>
          <a:prstGeom prst="roundRect">
            <a:avLst/>
          </a:prstGeom>
          <a:solidFill>
            <a:srgbClr val="E6F0F3"/>
          </a:solidFill>
          <a:ln w="19050">
            <a:solidFill>
              <a:srgbClr val="005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0566F"/>
                </a:solidFill>
                <a:latin typeface="Segoe UI"/>
              </a:rPr>
              <a:t>3. Suite complète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Segoe UI"/>
              </a:rPr>
              <a:t>Couverture 100% exigée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0599" y="2781300"/>
            <a:ext cx="190495" cy="190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17E86"/>
                </a:solidFill>
                <a:latin typeface="Segoe UI"/>
              </a:rP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52776" y="3028950"/>
            <a:ext cx="4286142" cy="381000"/>
          </a:xfrm>
          <a:prstGeom prst="roundRect">
            <a:avLst/>
          </a:prstGeom>
          <a:solidFill>
            <a:srgbClr val="006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✓ Objectif atteint : tests verts + couverture au seuil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6238" y="3733799"/>
            <a:ext cx="3619409" cy="114300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6238" y="3733799"/>
            <a:ext cx="57148" cy="1143000"/>
          </a:xfrm>
          <a:prstGeom prst="rect">
            <a:avLst/>
          </a:prstGeom>
          <a:solidFill>
            <a:srgbClr val="005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634" y="3848099"/>
            <a:ext cx="3371765" cy="9525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0566F"/>
                </a:solidFill>
                <a:latin typeface="Segoe UI"/>
              </a:rPr>
              <a:t>🔄 Boucle de correction IA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Segoe UI"/>
              </a:rPr>
              <a:t>L'IA lit le code de sortie, applique le correctif nommé dans le rapport, relance ghog day. Arrêt si aucun progrès.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6142" y="3733799"/>
            <a:ext cx="3619409" cy="114300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86142" y="3733799"/>
            <a:ext cx="57148" cy="1143000"/>
          </a:xfrm>
          <a:prstGeom prst="rect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8539" y="3848099"/>
            <a:ext cx="3371765" cy="9525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0566F"/>
                </a:solidFill>
                <a:latin typeface="Segoe UI"/>
              </a:rPr>
              <a:t>📊 Sortie maîtrisée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Segoe UI"/>
              </a:rPr>
              <a:t>Petite pour l'IA (logs redirigés, tail lu). Vivante pour l'humain (barre de progression, rapport final).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6047" y="3733799"/>
            <a:ext cx="3619409" cy="114300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6047" y="3733799"/>
            <a:ext cx="57148" cy="1143000"/>
          </a:xfrm>
          <a:prstGeom prst="rect">
            <a:avLst/>
          </a:prstGeom>
          <a:solidFill>
            <a:srgbClr val="005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8443" y="3848099"/>
            <a:ext cx="3371765" cy="9525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0566F"/>
                </a:solidFill>
                <a:latin typeface="Segoe UI"/>
              </a:rPr>
              <a:t>🆔 État de cycle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Segoe UI"/>
              </a:rPr>
              <a:t>Contrat fichier a.ghog.status. L'IA ne devine jamais : ghog status lit l'état, exit 6 = en cours, 7 = tué.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0990" y="6667500"/>
            <a:ext cx="4762380" cy="152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AA"/>
                </a:solidFill>
                <a:latin typeface="Segoe UI"/>
              </a:rPr>
              <a:t>llm-shared - Groundhog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53476" y="6667500"/>
            <a:ext cx="857228" cy="152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AA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0990" y="114300"/>
            <a:ext cx="4762380" cy="3810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0566F"/>
                </a:solidFill>
                <a:latin typeface="Segoe UI"/>
              </a:rPr>
              <a:t>Uptevia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17E86"/>
                </a:solidFill>
                <a:latin typeface="Segoe UI"/>
              </a:rPr>
              <a:t>CORPORATE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29314" y="190500"/>
            <a:ext cx="4381390" cy="1905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7E86"/>
                </a:solidFill>
                <a:latin typeface="Segoe UI"/>
              </a:rPr>
              <a:t>8. Commits &amp; Release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52450"/>
            <a:ext cx="7315017" cy="47625"/>
          </a:xfrm>
          <a:prstGeom prst="rect">
            <a:avLst/>
          </a:prstGeom>
          <a:solidFill>
            <a:srgbClr val="005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552450"/>
            <a:ext cx="4876678" cy="47625"/>
          </a:xfrm>
          <a:prstGeom prst="rect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6238" y="685800"/>
            <a:ext cx="11239219" cy="4191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566F"/>
                </a:solidFill>
                <a:latin typeface="Segoe UI"/>
              </a:rPr>
              <a:t>Commits conventionnels &amp; préparation de release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38" y="1104900"/>
            <a:ext cx="11239219" cy="2667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17E86"/>
                </a:solidFill>
                <a:latin typeface="Segoe UI"/>
              </a:rPr>
              <a:t>Au-delà du changelog : le « pourquoi » pour le prochain lecteur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6238" y="1447800"/>
            <a:ext cx="11239219" cy="533400"/>
          </a:xfrm>
          <a:prstGeom prst="roundRect">
            <a:avLst/>
          </a:prstGeom>
          <a:solidFill>
            <a:srgbClr val="E6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C6608"/>
                </a:solidFill>
                <a:latin typeface="Segoe UI"/>
              </a:rPr>
              <a:t>/group-commits-msg</a:t>
            </a:r>
            <a:r>
              <a:rPr sz="1000" b="0" i="0">
                <a:solidFill>
                  <a:srgbClr val="00566F"/>
                </a:solidFill>
                <a:latin typeface="Segoe UI"/>
              </a:rPr>
              <a:t> : range les fichiers indexés du moins au plus dépendant, écrit un message au format ci-dessous par groupe dans a.commit, puis crée un commit par groupe après relecture.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38" y="2133600"/>
            <a:ext cx="5429114" cy="2095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566F"/>
                </a:solidFill>
                <a:latin typeface="Segoe UI"/>
              </a:rPr>
              <a:t>Format de commit étendu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6238" y="2400300"/>
            <a:ext cx="5429114" cy="2286000"/>
          </a:xfrm>
          <a:prstGeom prst="roundRect">
            <a:avLst/>
          </a:prstGeom>
          <a:solidFill>
            <a:srgbClr val="1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tIns="127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EC6608"/>
                </a:solidFill>
                <a:latin typeface="Segoe UI"/>
              </a:rPr>
              <a:t>feat</a:t>
            </a:r>
            <a:r>
              <a:rPr sz="1000" b="0" i="0">
                <a:solidFill>
                  <a:srgbClr val="8EB2BB"/>
                </a:solidFill>
                <a:latin typeface="Segoe UI"/>
              </a:rPr>
              <a:t>(scope): sujet (52 car. max)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95C11F"/>
                </a:solidFill>
                <a:latin typeface="Segoe UI"/>
              </a:rPr>
              <a:t>Why: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8EB2BB"/>
                </a:solidFill>
                <a:latin typeface="Segoe UI"/>
              </a:rPr>
              <a:t>Raison du changement (paragraphe 1).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8EB2BB"/>
                </a:solidFill>
                <a:latin typeface="Segoe UI"/>
              </a:rPr>
              <a:t>État « après » du code (paragraphe 2).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95C11F"/>
                </a:solidFill>
                <a:latin typeface="Segoe UI"/>
              </a:rPr>
              <a:t>What: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8EB2BB"/>
                </a:solidFill>
                <a:latin typeface="Segoe UI"/>
              </a:rPr>
              <a:t>- modification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8EB2BB"/>
                </a:solidFill>
                <a:latin typeface="Segoe UI"/>
              </a:rPr>
              <a:t>- modification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8EB2BB"/>
                </a:solidFill>
                <a:latin typeface="Segoe UI"/>
              </a:rPr>
              <a:t>- modification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238" y="4743450"/>
            <a:ext cx="5429114" cy="3810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Segoe UI"/>
              </a:rPr>
              <a:t>Le titre alimente le changelog. Le corps donne le contexte que le diff ne porte pas : pour l'humain et pour l'IA qui relira plus tard.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342" y="2133600"/>
            <a:ext cx="5429114" cy="2095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566F"/>
                </a:solidFill>
                <a:latin typeface="Segoe UI"/>
              </a:rPr>
              <a:t>Préparation de release</a:t>
            </a:r>
          </a:p>
        </p:txBody>
      </p:sp>
      <p:sp>
        <p:nvSpPr>
          <p:cNvPr id="13" name="Oval 12"/>
          <p:cNvSpPr/>
          <p:nvPr/>
        </p:nvSpPr>
        <p:spPr>
          <a:xfrm>
            <a:off x="6286342" y="2438400"/>
            <a:ext cx="285742" cy="285750"/>
          </a:xfrm>
          <a:prstGeom prst="ellipse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333" y="2438400"/>
            <a:ext cx="5048123" cy="28575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66F"/>
                </a:solidFill>
                <a:latin typeface="Segoe UI"/>
              </a:rPr>
              <a:t>/prepare-release</a:t>
            </a:r>
            <a:r>
              <a:rPr sz="1000" b="0" i="0">
                <a:solidFill>
                  <a:srgbClr val="333333"/>
                </a:solidFill>
                <a:latin typeface="Segoe UI"/>
              </a:rPr>
              <a:t> : merge, reword, snapshot</a:t>
            </a:r>
          </a:p>
        </p:txBody>
      </p:sp>
      <p:sp>
        <p:nvSpPr>
          <p:cNvPr id="15" name="Oval 14"/>
          <p:cNvSpPr/>
          <p:nvPr/>
        </p:nvSpPr>
        <p:spPr>
          <a:xfrm>
            <a:off x="6286342" y="2819400"/>
            <a:ext cx="285742" cy="285750"/>
          </a:xfrm>
          <a:prstGeom prst="ellipse">
            <a:avLst/>
          </a:prstGeom>
          <a:solidFill>
            <a:srgbClr val="005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333" y="2819400"/>
            <a:ext cx="5048123" cy="28575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66F"/>
                </a:solidFill>
                <a:latin typeface="Segoe UI"/>
              </a:rPr>
              <a:t>/prepare_release_notes</a:t>
            </a:r>
            <a:r>
              <a:rPr sz="1000" b="0" i="0">
                <a:solidFill>
                  <a:srgbClr val="333333"/>
                </a:solidFill>
                <a:latin typeface="Segoe UI"/>
              </a:rPr>
              <a:t> : titres groupés, résumé, CHANGELOG</a:t>
            </a:r>
          </a:p>
        </p:txBody>
      </p:sp>
      <p:sp>
        <p:nvSpPr>
          <p:cNvPr id="17" name="Oval 16"/>
          <p:cNvSpPr/>
          <p:nvPr/>
        </p:nvSpPr>
        <p:spPr>
          <a:xfrm>
            <a:off x="6286342" y="3200400"/>
            <a:ext cx="285742" cy="285750"/>
          </a:xfrm>
          <a:prstGeom prst="ellipse">
            <a:avLst/>
          </a:prstGeom>
          <a:solidFill>
            <a:srgbClr val="005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333" y="3200400"/>
            <a:ext cx="5048123" cy="28575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Segoe UI"/>
              </a:rPr>
              <a:t>Choix du titre de release (3 propositions)</a:t>
            </a:r>
          </a:p>
        </p:txBody>
      </p:sp>
      <p:sp>
        <p:nvSpPr>
          <p:cNvPr id="19" name="Oval 18"/>
          <p:cNvSpPr/>
          <p:nvPr/>
        </p:nvSpPr>
        <p:spPr>
          <a:xfrm>
            <a:off x="6286342" y="3581400"/>
            <a:ext cx="285742" cy="285750"/>
          </a:xfrm>
          <a:prstGeom prst="ellipse">
            <a:avLst/>
          </a:prstGeom>
          <a:solidFill>
            <a:srgbClr val="005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333" y="3581400"/>
            <a:ext cx="5048123" cy="28575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Segoe UI"/>
              </a:rPr>
              <a:t>pyproject.toml + uv sync → commit chore(release)</a:t>
            </a:r>
          </a:p>
        </p:txBody>
      </p:sp>
      <p:sp>
        <p:nvSpPr>
          <p:cNvPr id="21" name="Oval 20"/>
          <p:cNvSpPr/>
          <p:nvPr/>
        </p:nvSpPr>
        <p:spPr>
          <a:xfrm>
            <a:off x="6286342" y="3962399"/>
            <a:ext cx="285742" cy="285750"/>
          </a:xfrm>
          <a:prstGeom prst="ellipse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333" y="3962399"/>
            <a:ext cx="5048123" cy="28575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66F"/>
                </a:solidFill>
                <a:latin typeface="Segoe UI"/>
              </a:rPr>
              <a:t>brel</a:t>
            </a:r>
            <a:r>
              <a:rPr sz="1000" b="0" i="0">
                <a:solidFill>
                  <a:srgbClr val="333333"/>
                </a:solidFill>
                <a:latin typeface="Segoe UI"/>
              </a:rPr>
              <a:t> : build + tag vX.Y.Z [valid]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6342" y="4381500"/>
            <a:ext cx="5429114" cy="381000"/>
          </a:xfrm>
          <a:prstGeom prst="roundRect">
            <a:avLst/>
          </a:prstGeom>
          <a:solidFill>
            <a:srgbClr val="F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C6608"/>
                </a:solidFill>
                <a:latin typeface="Segoe UI"/>
              </a:rPr>
              <a:t>Le skill ne taggue jamais et ne pousse jamais : c'est l'auteur qui décide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0990" y="6667500"/>
            <a:ext cx="4762380" cy="152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AA"/>
                </a:solidFill>
                <a:latin typeface="Segoe UI"/>
              </a:rPr>
              <a:t>llm-shared - Commits &amp; Release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53476" y="6667500"/>
            <a:ext cx="857228" cy="152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AA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0990" y="114300"/>
            <a:ext cx="4762380" cy="3810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0566F"/>
                </a:solidFill>
                <a:latin typeface="Segoe UI"/>
              </a:rPr>
              <a:t>Uptevia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17E86"/>
                </a:solidFill>
                <a:latin typeface="Segoe UI"/>
              </a:rPr>
              <a:t>CORPORATE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29314" y="190500"/>
            <a:ext cx="4381390" cy="1905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7E86"/>
                </a:solidFill>
                <a:latin typeface="Segoe UI"/>
              </a:rPr>
              <a:t>Sécurité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52450"/>
            <a:ext cx="7315017" cy="47625"/>
          </a:xfrm>
          <a:prstGeom prst="rect">
            <a:avLst/>
          </a:prstGeom>
          <a:solidFill>
            <a:srgbClr val="005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552450"/>
            <a:ext cx="4876678" cy="47625"/>
          </a:xfrm>
          <a:prstGeom prst="rect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6238" y="685800"/>
            <a:ext cx="11239219" cy="4191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566F"/>
                </a:solidFill>
                <a:latin typeface="Segoe UI"/>
              </a:rPr>
              <a:t>🛡️ Deux garde-fous sécurité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38" y="1104900"/>
            <a:ext cx="11239219" cy="2667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17E86"/>
                </a:solidFill>
                <a:latin typeface="Segoe UI"/>
              </a:rPr>
              <a:t>L'IA accélère le code : elle ne dispense pas des contrôles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38" y="1504950"/>
            <a:ext cx="5476738" cy="247649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566F"/>
                </a:solidFill>
                <a:latin typeface="Segoe UI"/>
              </a:rPr>
              <a:t>🔍 Code et dépendances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8719" y="1504950"/>
            <a:ext cx="5476738" cy="247649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C6608"/>
                </a:solidFill>
                <a:latin typeface="Segoe UI"/>
              </a:rPr>
              <a:t>🔒 Fuites de données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6238" y="1828800"/>
            <a:ext cx="5476738" cy="800100"/>
          </a:xfrm>
          <a:prstGeom prst="roundRect">
            <a:avLst/>
          </a:prstGeom>
          <a:solidFill>
            <a:srgbClr val="E6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584" y="1905000"/>
            <a:ext cx="5248143" cy="6667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0566F"/>
                </a:solidFill>
                <a:latin typeface="Segoe UI"/>
              </a:rPr>
              <a:t>⚠️ Risque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Segoe UI"/>
              </a:rPr>
              <a:t>L'IA peut produire du code vulnérable et tirer des bibliothèques anciennes ou trouées.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8719" y="1828800"/>
            <a:ext cx="5476738" cy="800100"/>
          </a:xfrm>
          <a:prstGeom prst="roundRect">
            <a:avLst/>
          </a:prstGeom>
          <a:solidFill>
            <a:srgbClr val="F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2065" y="1905000"/>
            <a:ext cx="5248143" cy="6667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C6608"/>
                </a:solidFill>
                <a:latin typeface="Segoe UI"/>
              </a:rPr>
              <a:t>⚠️ Risque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Segoe UI"/>
              </a:rPr>
              <a:t>Un secret ou une donnée métier collé dans un prompt part chez le fournisseur du modèle.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6238" y="2743200"/>
            <a:ext cx="5476738" cy="800100"/>
          </a:xfrm>
          <a:prstGeom prst="roundRect">
            <a:avLst/>
          </a:prstGeom>
          <a:solidFill>
            <a:srgbClr val="E6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584" y="2819400"/>
            <a:ext cx="5248143" cy="6667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0566F"/>
                </a:solidFill>
                <a:latin typeface="Segoe UI"/>
              </a:rPr>
              <a:t>✅ Contrôle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Segoe UI"/>
              </a:rPr>
              <a:t>Passer chaque livraison au scanner </a:t>
            </a:r>
            <a:r>
              <a:rPr sz="1050" b="1" i="0">
                <a:solidFill>
                  <a:srgbClr val="333333"/>
                </a:solidFill>
                <a:latin typeface="Segoe UI"/>
              </a:rPr>
              <a:t>SonarQube ou équivalent</a:t>
            </a:r>
            <a:r>
              <a:rPr sz="1050" b="0" i="0">
                <a:solidFill>
                  <a:srgbClr val="333333"/>
                </a:solidFill>
                <a:latin typeface="Segoe UI"/>
              </a:rPr>
              <a:t> : qualité, failles connues, dépendances.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8719" y="2743200"/>
            <a:ext cx="5476738" cy="800100"/>
          </a:xfrm>
          <a:prstGeom prst="roundRect">
            <a:avLst/>
          </a:prstGeom>
          <a:solidFill>
            <a:srgbClr val="F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2065" y="2819400"/>
            <a:ext cx="5248143" cy="6667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C6608"/>
                </a:solidFill>
                <a:latin typeface="Segoe UI"/>
              </a:rPr>
              <a:t>🚫 Contrôle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33333"/>
                </a:solidFill>
                <a:latin typeface="Segoe UI"/>
              </a:rPr>
              <a:t>Jamais de secrets ni de données réelles dans les prompts</a:t>
            </a:r>
            <a:r>
              <a:rPr sz="1050" b="0" i="0">
                <a:solidFill>
                  <a:srgbClr val="333333"/>
                </a:solidFill>
                <a:latin typeface="Segoe UI"/>
              </a:rPr>
              <a:t> : clés, tokens, données client, extraits de prod.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6238" y="3657600"/>
            <a:ext cx="5476738" cy="952500"/>
          </a:xfrm>
          <a:prstGeom prst="roundRect">
            <a:avLst/>
          </a:prstGeom>
          <a:solidFill>
            <a:srgbClr val="F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6238" y="3657600"/>
            <a:ext cx="47623" cy="952500"/>
          </a:xfrm>
          <a:prstGeom prst="rect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584" y="3733799"/>
            <a:ext cx="5248143" cy="8191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C6608"/>
                </a:solidFill>
                <a:latin typeface="Segoe UI"/>
              </a:rPr>
              <a:t>🚦 Porte avant prod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Segoe UI"/>
              </a:rPr>
              <a:t>Avant la mise en production : passage SonarQube + correction des vulnérabilités et des bibliothèques. Pas de « go » tant que ce n'est pas propre.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8719" y="3657600"/>
            <a:ext cx="5476738" cy="952500"/>
          </a:xfrm>
          <a:prstGeom prst="roundRect">
            <a:avLst/>
          </a:prstGeom>
          <a:solidFill>
            <a:srgbClr val="F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2065" y="3733799"/>
            <a:ext cx="5248143" cy="8191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C6608"/>
                </a:solidFill>
                <a:latin typeface="Segoe UI"/>
              </a:rPr>
              <a:t>🧪 Détail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Segoe UI"/>
              </a:rPr>
              <a:t>On décrit le problème et la structure, on ne copie pas la donnée ; jeux d'exemple anonymisés si besoin.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6238" y="4724400"/>
            <a:ext cx="5476738" cy="800100"/>
          </a:xfrm>
          <a:prstGeom prst="roundRect">
            <a:avLst/>
          </a:prstGeom>
          <a:solidFill>
            <a:srgbClr val="E6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584" y="4800600"/>
            <a:ext cx="5248143" cy="6667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0566F"/>
                </a:solidFill>
                <a:latin typeface="Segoe UI"/>
              </a:rPr>
              <a:t>🔗 Dans le workflow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Segoe UI"/>
              </a:rPr>
              <a:t>Après </a:t>
            </a:r>
            <a:r>
              <a:rPr sz="1000" b="0" i="0">
                <a:solidFill>
                  <a:srgbClr val="EC6608"/>
                </a:solidFill>
                <a:latin typeface="Segoe UI"/>
              </a:rPr>
              <a:t>/implementation-check</a:t>
            </a:r>
            <a:r>
              <a:rPr sz="1050" b="0" i="0">
                <a:solidFill>
                  <a:srgbClr val="333333"/>
                </a:solidFill>
                <a:latin typeface="Segoe UI"/>
              </a:rPr>
              <a:t> et la boucle </a:t>
            </a:r>
            <a:r>
              <a:rPr sz="1000" b="0" i="0">
                <a:solidFill>
                  <a:srgbClr val="EC6608"/>
                </a:solidFill>
                <a:latin typeface="Segoe UI"/>
              </a:rPr>
              <a:t>groundhog</a:t>
            </a:r>
            <a:r>
              <a:rPr sz="1050" b="0" i="0">
                <a:solidFill>
                  <a:srgbClr val="333333"/>
                </a:solidFill>
                <a:latin typeface="Segoe UI"/>
              </a:rPr>
              <a:t>, avant le commit ; le vert SonarQube devient une condition de merge.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8719" y="4724400"/>
            <a:ext cx="5476738" cy="800100"/>
          </a:xfrm>
          <a:prstGeom prst="roundRect">
            <a:avLst/>
          </a:prstGeom>
          <a:solidFill>
            <a:srgbClr val="F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065" y="4800600"/>
            <a:ext cx="5248143" cy="66675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C6608"/>
                </a:solidFill>
                <a:latin typeface="Segoe UI"/>
              </a:rPr>
              <a:t>🔗 Dans le workflow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Segoe UI"/>
              </a:rPr>
              <a:t>Règle qui vaut à toutes les phases : brouillon, exigence, design, implémentation.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6238" y="5619750"/>
            <a:ext cx="11239219" cy="3810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17E86"/>
                </a:solidFill>
                <a:latin typeface="Segoe UI"/>
              </a:rPr>
              <a:t>💡 L'IA génère vite : </a:t>
            </a:r>
            <a:r>
              <a:rPr sz="1050" b="1" i="0">
                <a:solidFill>
                  <a:srgbClr val="00566F"/>
                </a:solidFill>
                <a:latin typeface="Segoe UI"/>
              </a:rPr>
              <a:t>SonarQube</a:t>
            </a:r>
            <a:r>
              <a:rPr sz="1050" b="0" i="0">
                <a:solidFill>
                  <a:srgbClr val="717E86"/>
                </a:solidFill>
                <a:latin typeface="Segoe UI"/>
              </a:rPr>
              <a:t> filtre le code avant prod, la règle </a:t>
            </a:r>
            <a:r>
              <a:rPr sz="1050" b="1" i="0">
                <a:solidFill>
                  <a:srgbClr val="EC6608"/>
                </a:solidFill>
                <a:latin typeface="Segoe UI"/>
              </a:rPr>
              <a:t>« jamais de secrets ni de données dans le prompt »</a:t>
            </a:r>
            <a:r>
              <a:rPr sz="1050" b="0" i="0">
                <a:solidFill>
                  <a:srgbClr val="717E86"/>
                </a:solidFill>
                <a:latin typeface="Segoe UI"/>
              </a:rPr>
              <a:t> filtre ce qui sort.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0990" y="6667500"/>
            <a:ext cx="4762380" cy="152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AA"/>
                </a:solidFill>
                <a:latin typeface="Segoe UI"/>
              </a:rPr>
              <a:t>llm-shared - Sécurité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53476" y="6667500"/>
            <a:ext cx="857228" cy="152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AA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0990" y="114300"/>
            <a:ext cx="4762380" cy="3810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0566F"/>
                </a:solidFill>
                <a:latin typeface="Segoe UI"/>
              </a:rPr>
              <a:t>Uptevia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17E86"/>
                </a:solidFill>
                <a:latin typeface="Segoe UI"/>
              </a:rPr>
              <a:t>CORPORATE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29314" y="190500"/>
            <a:ext cx="4381390" cy="1905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7E86"/>
                </a:solidFill>
                <a:latin typeface="Segoe UI"/>
              </a:rPr>
              <a:t>Bénéfices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52450"/>
            <a:ext cx="7315017" cy="47625"/>
          </a:xfrm>
          <a:prstGeom prst="rect">
            <a:avLst/>
          </a:prstGeom>
          <a:solidFill>
            <a:srgbClr val="005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552450"/>
            <a:ext cx="4876678" cy="47625"/>
          </a:xfrm>
          <a:prstGeom prst="rect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6238" y="685800"/>
            <a:ext cx="11239219" cy="4191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566F"/>
                </a:solidFill>
                <a:latin typeface="Segoe UI"/>
              </a:rPr>
              <a:t>Bénéfices pour la DSI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38" y="1104900"/>
            <a:ext cx="11239219" cy="2667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17E86"/>
                </a:solidFill>
                <a:latin typeface="Segoe UI"/>
              </a:rPr>
              <a:t>Ce que le framework apporte aux équipes et à la qualité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6238" y="1571625"/>
            <a:ext cx="5429114" cy="114300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6238" y="1571625"/>
            <a:ext cx="57148" cy="1143000"/>
          </a:xfrm>
          <a:prstGeom prst="rect">
            <a:avLst/>
          </a:prstGeom>
          <a:solidFill>
            <a:srgbClr val="005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634" y="1685925"/>
            <a:ext cx="5181470" cy="9525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0566F"/>
                </a:solidFill>
                <a:latin typeface="Segoe UI"/>
              </a:rPr>
              <a:t>📋 Traçabilité complète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Segoe UI"/>
              </a:rPr>
              <a:t>Chaque décision est documentée. Le « pourquoi » est explicite, pas à déduire du code. Revu par l'IA avant validation.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342" y="1571625"/>
            <a:ext cx="5429114" cy="114300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86342" y="1571625"/>
            <a:ext cx="57148" cy="1143000"/>
          </a:xfrm>
          <a:prstGeom prst="rect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8739" y="1685925"/>
            <a:ext cx="5181470" cy="9525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0566F"/>
                </a:solidFill>
                <a:latin typeface="Segoe UI"/>
              </a:rPr>
              <a:t>🤖 Multi-agent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Segoe UI"/>
              </a:rPr>
              <a:t>GitHub Copilot, Claude Code, ChatGPT Codex. Les mêmes instructions markdown, les mêmes artefacts.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6238" y="2905125"/>
            <a:ext cx="5429114" cy="114300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6238" y="2905125"/>
            <a:ext cx="57148" cy="1143000"/>
          </a:xfrm>
          <a:prstGeom prst="rect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634" y="3019425"/>
            <a:ext cx="5181470" cy="9525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0566F"/>
                </a:solidFill>
                <a:latin typeface="Segoe UI"/>
              </a:rPr>
              <a:t>🧪 Qualité par construction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Segoe UI"/>
              </a:rPr>
              <a:t>Tests seuils avant implémentation. Couverture 100% exigée. Revue d'implémentation systématique par l'IA.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6342" y="2905125"/>
            <a:ext cx="5429114" cy="114300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86342" y="2905125"/>
            <a:ext cx="57148" cy="1143000"/>
          </a:xfrm>
          <a:prstGeom prst="rect">
            <a:avLst/>
          </a:prstGeom>
          <a:solidFill>
            <a:srgbClr val="005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8739" y="3019425"/>
            <a:ext cx="5181470" cy="9525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0566F"/>
                </a:solidFill>
                <a:latin typeface="Segoe UI"/>
              </a:rPr>
              <a:t>📚 Documentation vivante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Segoe UI"/>
              </a:rPr>
              <a:t>Brouillon, exigence, design, plan, validation, commits : chaque phase laisse un artefact relu et consolidé.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6238" y="4238625"/>
            <a:ext cx="5429114" cy="114300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6238" y="4238625"/>
            <a:ext cx="57148" cy="1143000"/>
          </a:xfrm>
          <a:prstGeom prst="rect">
            <a:avLst/>
          </a:prstGeom>
          <a:solidFill>
            <a:srgbClr val="005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634" y="4352925"/>
            <a:ext cx="5181470" cy="9525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0566F"/>
                </a:solidFill>
                <a:latin typeface="Segoe UI"/>
              </a:rPr>
              <a:t>⚡ Automatisation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Segoe UI"/>
              </a:rPr>
              <a:t>pw skill et pw handoff enchaînent les étapes sans intervention. L'humain intervient seulement aux points de revue.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6342" y="4238625"/>
            <a:ext cx="5429114" cy="114300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86342" y="4238625"/>
            <a:ext cx="57148" cy="1143000"/>
          </a:xfrm>
          <a:prstGeom prst="rect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8739" y="4352925"/>
            <a:ext cx="5181470" cy="9525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0566F"/>
                </a:solidFill>
                <a:latin typeface="Segoe UI"/>
              </a:rPr>
              <a:t>🔓 Licence MIT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Segoe UI"/>
              </a:rPr>
              <a:t>Réutilisable dans tous les projets. Copie, fork, adaptation sans contrainte de copyleft.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0990" y="6667500"/>
            <a:ext cx="4762380" cy="152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AA"/>
                </a:solidFill>
                <a:latin typeface="Segoe UI"/>
              </a:rPr>
              <a:t>llm-shared - Bénéfices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53476" y="6667500"/>
            <a:ext cx="857228" cy="152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AA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6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017" y="0"/>
            <a:ext cx="4876678" cy="47625"/>
          </a:xfrm>
          <a:prstGeom prst="rect">
            <a:avLst/>
          </a:prstGeom>
          <a:solidFill>
            <a:srgbClr val="EC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0990" y="285750"/>
            <a:ext cx="4762380" cy="4191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Uptevia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8EB2BB"/>
                </a:solidFill>
                <a:latin typeface="Segoe UI"/>
              </a:rPr>
              <a:t>CORPORATE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905000"/>
            <a:ext cx="12191695" cy="5715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</a:rPr>
              <a:t>Merci de votre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5942" y="2714625"/>
            <a:ext cx="7619809" cy="66675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4D8DE"/>
                </a:solidFill>
                <a:latin typeface="Segoe UI"/>
              </a:rPr>
              <a:t>llm-shared - du brouillon à la release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EB2BB"/>
                </a:solidFill>
                <a:latin typeface="Segoe UI"/>
              </a:rPr>
              <a:t>Sans vibe-coding, avec auto-revue IA et traçabilité complète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199" y="3810000"/>
            <a:ext cx="2476438" cy="47625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EC6608"/>
                </a:solidFill>
                <a:latin typeface="Segoe 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0199" y="4305300"/>
            <a:ext cx="2476438" cy="2286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B2BB"/>
                </a:solidFill>
                <a:latin typeface="Segoe UI"/>
              </a:rPr>
              <a:t>phases structurées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57628" y="3810000"/>
            <a:ext cx="2476438" cy="47625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EC6608"/>
                </a:solidFill>
                <a:latin typeface="Segoe U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7628" y="4305300"/>
            <a:ext cx="2476438" cy="2286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B2BB"/>
                </a:solidFill>
                <a:latin typeface="Segoe UI"/>
              </a:rPr>
              <a:t>agents IA compatibles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057" y="3810000"/>
            <a:ext cx="2476438" cy="47625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EC6608"/>
                </a:solidFill>
                <a:latin typeface="Segoe UI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057" y="4305300"/>
            <a:ext cx="2476438" cy="2286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B2BB"/>
                </a:solidFill>
                <a:latin typeface="Segoe UI"/>
              </a:rPr>
              <a:t>traçabilité des décisions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