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6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017" y="0"/>
            <a:ext cx="4876678" cy="47625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380990" y="285750"/>
            <a:ext cx="4762380" cy="4191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fr-FR" sz="1300" b="1" i="0" noProof="0" dirty="0" err="1">
                <a:solidFill>
                  <a:srgbClr val="FFFFFF"/>
                </a:solidFill>
                <a:latin typeface="Segoe UI"/>
              </a:rPr>
              <a:t>Organization</a:t>
            </a:r>
            <a:r>
              <a:rPr lang="fr-FR" sz="1300" b="1" i="0" noProof="0" dirty="0">
                <a:solidFill>
                  <a:srgbClr val="FFFFFF"/>
                </a:solidFill>
                <a:latin typeface="Segoe UI"/>
              </a:rPr>
              <a:t> </a:t>
            </a:r>
            <a:r>
              <a:rPr lang="fr-FR" sz="1300" b="1" i="0" noProof="0" dirty="0" err="1">
                <a:solidFill>
                  <a:srgbClr val="FFFFFF"/>
                </a:solidFill>
                <a:latin typeface="Segoe UI"/>
              </a:rPr>
              <a:t>name</a:t>
            </a:r>
            <a:endParaRPr lang="fr-FR" sz="1300" b="1" i="0" noProof="0" dirty="0">
              <a:solidFill>
                <a:srgbClr val="FFFFFF"/>
              </a:solidFill>
              <a:latin typeface="Segoe U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00" b="0" i="0" noProof="0" dirty="0">
                <a:solidFill>
                  <a:srgbClr val="8EB2BB"/>
                </a:solidFill>
                <a:latin typeface="Segoe UI"/>
              </a:rPr>
              <a:t>ORGANIZATION SUBTITLE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381250"/>
            <a:ext cx="12191695" cy="66675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4200" b="1" i="0" noProof="0" dirty="0" err="1">
                <a:solidFill>
                  <a:srgbClr val="FFFFFF"/>
                </a:solidFill>
                <a:latin typeface="Segoe UI"/>
              </a:rPr>
              <a:t>llm-shared</a:t>
            </a:r>
            <a:endParaRPr lang="fr-FR" sz="4200" b="1" i="0" noProof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85942" y="3238500"/>
            <a:ext cx="7619809" cy="66675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fr-FR" sz="1600" b="0" i="0" noProof="0" dirty="0">
                <a:solidFill>
                  <a:srgbClr val="C4D8DE"/>
                </a:solidFill>
                <a:latin typeface="Segoe UI"/>
              </a:rPr>
              <a:t>Framework de développement assisté par IA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0" i="0" noProof="0" dirty="0">
                <a:solidFill>
                  <a:srgbClr val="C4D8DE"/>
                </a:solidFill>
                <a:latin typeface="Segoe UI"/>
              </a:rPr>
              <a:t>De l'idée brute à la release taguée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86250"/>
            <a:ext cx="12191695" cy="28575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0" i="0" noProof="0" dirty="0">
                <a:solidFill>
                  <a:srgbClr val="8EB2BB"/>
                </a:solidFill>
                <a:latin typeface="Segoe UI"/>
              </a:rPr>
              <a:t>Direction Informatique - 2025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0990" y="114300"/>
            <a:ext cx="4762380" cy="3810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Organization</a:t>
            </a: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 </a:t>
            </a: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name</a:t>
            </a:r>
            <a:endParaRPr lang="fr-FR" sz="1300" b="1" i="0" noProof="0" dirty="0">
              <a:solidFill>
                <a:srgbClr val="00566F"/>
              </a:solidFill>
              <a:latin typeface="Segoe U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00" b="0" i="0" noProof="0" dirty="0">
                <a:solidFill>
                  <a:srgbClr val="717E86"/>
                </a:solidFill>
                <a:latin typeface="Segoe UI"/>
              </a:rPr>
              <a:t>ORGANIZATION SUBTITLE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29314" y="190500"/>
            <a:ext cx="4381390" cy="1905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 err="1">
                <a:solidFill>
                  <a:srgbClr val="717E86"/>
                </a:solidFill>
                <a:latin typeface="Segoe UI"/>
              </a:rPr>
              <a:t>llm-shared</a:t>
            </a:r>
            <a:endParaRPr lang="fr-FR" sz="850" b="0" i="0" noProof="0" dirty="0">
              <a:solidFill>
                <a:srgbClr val="717E86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552450"/>
            <a:ext cx="7315017" cy="47625"/>
          </a:xfrm>
          <a:prstGeom prst="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Rectangle 4"/>
          <p:cNvSpPr/>
          <p:nvPr/>
        </p:nvSpPr>
        <p:spPr>
          <a:xfrm>
            <a:off x="7315017" y="552450"/>
            <a:ext cx="4876678" cy="47625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476238" y="685800"/>
            <a:ext cx="11239219" cy="4191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100" b="1" i="0" noProof="0" dirty="0">
                <a:solidFill>
                  <a:srgbClr val="00566F"/>
                </a:solidFill>
                <a:latin typeface="Segoe UI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238" y="1104900"/>
            <a:ext cx="11239219" cy="2667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Framework de développement structuré avec l'IA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8714" y="1809750"/>
            <a:ext cx="476238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600" b="1" i="0" noProof="0" dirty="0">
                <a:solidFill>
                  <a:srgbClr val="EC6608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2576" y="1809750"/>
            <a:ext cx="4000399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Le problème du « </a:t>
            </a: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vibe-coding</a:t>
            </a: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333" y="1809750"/>
            <a:ext cx="476238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600" b="1" i="0" noProof="0" dirty="0">
                <a:solidFill>
                  <a:srgbClr val="EC6608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91195" y="1809750"/>
            <a:ext cx="4000399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La solution : un workflow structuré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8714" y="2552700"/>
            <a:ext cx="476238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600" b="1" i="0" noProof="0" dirty="0">
                <a:solidFill>
                  <a:srgbClr val="EC6608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2576" y="2552700"/>
            <a:ext cx="4000399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Principe clé : l'auto-revue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333" y="2552700"/>
            <a:ext cx="476238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600" b="1" i="0" noProof="0" dirty="0">
                <a:solidFill>
                  <a:srgbClr val="EC6608"/>
                </a:solidFill>
                <a:latin typeface="Segoe U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91195" y="2552700"/>
            <a:ext cx="4000399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Vue d'ensemble du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714" y="3295650"/>
            <a:ext cx="476238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600" b="1" i="0" noProof="0" dirty="0">
                <a:solidFill>
                  <a:srgbClr val="EC6608"/>
                </a:solidFill>
                <a:latin typeface="Segoe U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52576" y="3295650"/>
            <a:ext cx="4000399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Phase documentaire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333" y="3295650"/>
            <a:ext cx="476238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600" b="1" i="0" noProof="0" dirty="0">
                <a:solidFill>
                  <a:srgbClr val="EC6608"/>
                </a:solidFill>
                <a:latin typeface="Segoe U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1195" y="3295650"/>
            <a:ext cx="4000399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Phase d'implémentation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8714" y="4038600"/>
            <a:ext cx="476238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600" b="1" i="0" noProof="0" dirty="0">
                <a:solidFill>
                  <a:srgbClr val="EC6608"/>
                </a:solidFill>
                <a:latin typeface="Segoe UI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2576" y="4038600"/>
            <a:ext cx="4000399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Commits conventionnels &amp; release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333" y="4038600"/>
            <a:ext cx="476238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600" b="1" i="0" noProof="0" dirty="0">
                <a:solidFill>
                  <a:srgbClr val="EC6608"/>
                </a:solidFill>
                <a:latin typeface="Segoe UI"/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1195" y="4038600"/>
            <a:ext cx="4000399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Groundhog</a:t>
            </a: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 &amp; automatisation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8714" y="4781550"/>
            <a:ext cx="476238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600" b="1" i="0" noProof="0" dirty="0">
                <a:solidFill>
                  <a:srgbClr val="EC6608"/>
                </a:solidFill>
                <a:latin typeface="Segoe UI"/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52576" y="4781550"/>
            <a:ext cx="4000399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Sécurité : deux garde-fous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0990" y="6667500"/>
            <a:ext cx="4762380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 err="1">
                <a:solidFill>
                  <a:srgbClr val="AAAAAA"/>
                </a:solidFill>
                <a:latin typeface="Segoe UI"/>
              </a:rPr>
              <a:t>llm-shared</a:t>
            </a: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 - Agenda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3476" y="6667500"/>
            <a:ext cx="857228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0990" y="114300"/>
            <a:ext cx="4762380" cy="3810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Organization</a:t>
            </a: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 </a:t>
            </a: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name</a:t>
            </a:r>
            <a:endParaRPr lang="fr-FR" sz="1300" b="1" i="0" noProof="0" dirty="0">
              <a:solidFill>
                <a:srgbClr val="00566F"/>
              </a:solidFill>
              <a:latin typeface="Segoe U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00" b="0" i="0" noProof="0" dirty="0">
                <a:solidFill>
                  <a:srgbClr val="717E86"/>
                </a:solidFill>
                <a:latin typeface="Segoe UI"/>
              </a:rPr>
              <a:t>ORGANIZATION SUBTITLE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29314" y="190500"/>
            <a:ext cx="4381390" cy="1905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717E86"/>
                </a:solidFill>
                <a:latin typeface="Segoe UI"/>
              </a:rPr>
              <a:t>1. Problème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52450"/>
            <a:ext cx="7315017" cy="47625"/>
          </a:xfrm>
          <a:prstGeom prst="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Rectangle 4"/>
          <p:cNvSpPr/>
          <p:nvPr/>
        </p:nvSpPr>
        <p:spPr>
          <a:xfrm>
            <a:off x="7315017" y="552450"/>
            <a:ext cx="4876678" cy="47625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476238" y="685800"/>
            <a:ext cx="11239219" cy="4191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100" b="1" i="0" noProof="0" dirty="0">
                <a:solidFill>
                  <a:srgbClr val="00566F"/>
                </a:solidFill>
                <a:latin typeface="Segoe UI"/>
              </a:rPr>
              <a:t>Le problème du « </a:t>
            </a:r>
            <a:r>
              <a:rPr lang="fr-FR" sz="2100" b="1" i="0" noProof="0" dirty="0" err="1">
                <a:solidFill>
                  <a:srgbClr val="00566F"/>
                </a:solidFill>
                <a:latin typeface="Segoe UI"/>
              </a:rPr>
              <a:t>vibe-coding</a:t>
            </a:r>
            <a:r>
              <a:rPr lang="fr-FR" sz="2100" b="1" i="0" noProof="0" dirty="0">
                <a:solidFill>
                  <a:srgbClr val="00566F"/>
                </a:solidFill>
                <a:latin typeface="Segoe UI"/>
              </a:rPr>
              <a:t>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238" y="1104900"/>
            <a:ext cx="11239219" cy="2667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Générer du code vite sans spécifier ce qu'on veut vraiment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6238" y="1571625"/>
            <a:ext cx="3619409" cy="1809750"/>
          </a:xfrm>
          <a:prstGeom prst="roundRect">
            <a:avLst/>
          </a:prstGeom>
          <a:solidFill>
            <a:srgbClr val="F0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Rectangle 8"/>
          <p:cNvSpPr/>
          <p:nvPr/>
        </p:nvSpPr>
        <p:spPr>
          <a:xfrm>
            <a:off x="476238" y="1571625"/>
            <a:ext cx="3619409" cy="57150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28634" y="1724025"/>
            <a:ext cx="3314617" cy="15430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fr-FR" sz="2400" b="0" i="0" noProof="0" dirty="0">
                <a:solidFill>
                  <a:srgbClr val="333333"/>
                </a:solidFill>
                <a:latin typeface="Segoe UI"/>
              </a:rPr>
              <a:t>💡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fr-FR" sz="1300" b="1" i="0" noProof="0" dirty="0">
                <a:solidFill>
                  <a:srgbClr val="EC6608"/>
                </a:solidFill>
                <a:latin typeface="Segoe UI"/>
              </a:rPr>
              <a:t>L'idée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0" i="0" noProof="0" dirty="0">
                <a:solidFill>
                  <a:srgbClr val="555555"/>
                </a:solidFill>
                <a:latin typeface="Segoe UI"/>
              </a:rPr>
              <a:t>« J'ai une idée, génère-moi du code, je verrai les détails plus tard. 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142" y="1571625"/>
            <a:ext cx="3619409" cy="1809750"/>
          </a:xfrm>
          <a:prstGeom prst="roundRect">
            <a:avLst/>
          </a:prstGeom>
          <a:solidFill>
            <a:srgbClr val="F0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Rectangle 11"/>
          <p:cNvSpPr/>
          <p:nvPr/>
        </p:nvSpPr>
        <p:spPr>
          <a:xfrm>
            <a:off x="4286142" y="1571625"/>
            <a:ext cx="3619409" cy="57150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4438539" y="1724025"/>
            <a:ext cx="3314617" cy="15430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fr-FR" sz="2400" b="0" i="0" noProof="0" dirty="0">
                <a:solidFill>
                  <a:srgbClr val="333333"/>
                </a:solidFill>
                <a:latin typeface="Segoe UI"/>
              </a:rPr>
              <a:t>⚡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fr-FR" sz="1300" b="1" i="0" noProof="0" dirty="0">
                <a:solidFill>
                  <a:srgbClr val="EC6608"/>
                </a:solidFill>
                <a:latin typeface="Segoe UI"/>
              </a:rPr>
              <a:t>Le code arrive vite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0" i="0" noProof="0" dirty="0">
                <a:solidFill>
                  <a:srgbClr val="555555"/>
                </a:solidFill>
                <a:latin typeface="Segoe UI"/>
              </a:rPr>
              <a:t>Mais il s'appuie sur des hypothèses non écrites. Il casse au premier cas réel non prévu.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6047" y="1571625"/>
            <a:ext cx="3619409" cy="1809750"/>
          </a:xfrm>
          <a:prstGeom prst="roundRect">
            <a:avLst/>
          </a:prstGeom>
          <a:solidFill>
            <a:srgbClr val="F0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Rectangle 14"/>
          <p:cNvSpPr/>
          <p:nvPr/>
        </p:nvSpPr>
        <p:spPr>
          <a:xfrm>
            <a:off x="8096047" y="1571625"/>
            <a:ext cx="3619409" cy="57150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8248443" y="1724025"/>
            <a:ext cx="3314617" cy="15430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fr-FR" sz="2400" b="0" i="0" noProof="0" dirty="0">
                <a:solidFill>
                  <a:srgbClr val="333333"/>
                </a:solidFill>
                <a:latin typeface="Segoe UI"/>
              </a:rPr>
              <a:t>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fr-FR" sz="1300" b="1" i="0" noProof="0" dirty="0">
                <a:solidFill>
                  <a:srgbClr val="EC6608"/>
                </a:solidFill>
                <a:latin typeface="Segoe UI"/>
              </a:rPr>
              <a:t>La conséquence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0" i="0" noProof="0" dirty="0">
                <a:solidFill>
                  <a:srgbClr val="555555"/>
                </a:solidFill>
                <a:latin typeface="Segoe UI"/>
              </a:rPr>
              <a:t>Code sans documentation d'intention. Difficile à maintenir, à expliquer, à étendre : même par l'auteur.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6238" y="3667125"/>
            <a:ext cx="11239219" cy="1095375"/>
          </a:xfrm>
          <a:prstGeom prst="roundRect">
            <a:avLst/>
          </a:prstGeom>
          <a:solidFill>
            <a:srgbClr val="FFF3E6"/>
          </a:solidFill>
          <a:ln w="19050">
            <a:solidFill>
              <a:srgbClr val="EC66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571485" y="3810000"/>
            <a:ext cx="11048723" cy="904875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fr-FR" sz="1400" b="1" i="0" noProof="0" dirty="0">
                <a:solidFill>
                  <a:srgbClr val="EC6608"/>
                </a:solidFill>
                <a:latin typeface="Segoe UI"/>
              </a:rPr>
              <a:t>⚠️ Ce que refuse le workflow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00" b="0" i="0" noProof="0" dirty="0">
                <a:solidFill>
                  <a:srgbClr val="555555"/>
                </a:solidFill>
                <a:latin typeface="Segoe UI"/>
              </a:rPr>
              <a:t>Passer directement à l'implémentation sans exigence écrite · Sans design · Sans tests · Sans scénarios d'acceptation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990" y="6667500"/>
            <a:ext cx="4762380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 err="1">
                <a:solidFill>
                  <a:srgbClr val="AAAAAA"/>
                </a:solidFill>
                <a:latin typeface="Segoe UI"/>
              </a:rPr>
              <a:t>llm-shared</a:t>
            </a: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 - Problème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3476" y="6667500"/>
            <a:ext cx="857228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0990" y="114300"/>
            <a:ext cx="4762380" cy="3810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Organization</a:t>
            </a: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 </a:t>
            </a: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name</a:t>
            </a:r>
            <a:endParaRPr lang="fr-FR" sz="1300" b="1" i="0" noProof="0" dirty="0">
              <a:solidFill>
                <a:srgbClr val="00566F"/>
              </a:solidFill>
              <a:latin typeface="Segoe U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00" b="0" i="0" noProof="0" dirty="0">
                <a:solidFill>
                  <a:srgbClr val="717E86"/>
                </a:solidFill>
                <a:latin typeface="Segoe UI"/>
              </a:rPr>
              <a:t>ORGANIZATION SUBTITLE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29314" y="190500"/>
            <a:ext cx="4381390" cy="1905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717E86"/>
                </a:solidFill>
                <a:latin typeface="Segoe UI"/>
              </a:rPr>
              <a:t>2.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52450"/>
            <a:ext cx="7315017" cy="47625"/>
          </a:xfrm>
          <a:prstGeom prst="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Rectangle 4"/>
          <p:cNvSpPr/>
          <p:nvPr/>
        </p:nvSpPr>
        <p:spPr>
          <a:xfrm>
            <a:off x="7315017" y="552450"/>
            <a:ext cx="4876678" cy="47625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476238" y="685800"/>
            <a:ext cx="11239219" cy="4191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100" b="1" i="0" noProof="0" dirty="0">
                <a:solidFill>
                  <a:srgbClr val="00566F"/>
                </a:solidFill>
                <a:latin typeface="Segoe UI"/>
              </a:rPr>
              <a:t>La solution : un workflow en phases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238" y="1104900"/>
            <a:ext cx="11239219" cy="2667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Garder la créativité, refuser le raccourci vers le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1010" y="1571625"/>
            <a:ext cx="1695407" cy="14287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5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619109" y="1685925"/>
            <a:ext cx="1619209" cy="12382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fr-FR" sz="2400" b="1" i="0" noProof="0" dirty="0">
                <a:solidFill>
                  <a:srgbClr val="EC6608"/>
                </a:solidFill>
                <a:latin typeface="Segoe UI"/>
              </a:rPr>
              <a:t>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fr-FR" sz="1200" b="1" i="0" noProof="0" dirty="0">
                <a:solidFill>
                  <a:srgbClr val="00566F"/>
                </a:solidFill>
                <a:latin typeface="Segoe UI"/>
              </a:rPr>
              <a:t>Brouillon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666666"/>
                </a:solidFill>
                <a:latin typeface="Segoe UI"/>
              </a:rPr>
              <a:t>Note libre en langage naturel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76418" y="2095499"/>
            <a:ext cx="17144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0" i="0" noProof="0" dirty="0">
                <a:solidFill>
                  <a:srgbClr val="717E86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47863" y="1571625"/>
            <a:ext cx="1695407" cy="1428750"/>
          </a:xfrm>
          <a:prstGeom prst="roundRect">
            <a:avLst/>
          </a:prstGeom>
          <a:solidFill>
            <a:srgbClr val="EC6608"/>
          </a:solidFill>
          <a:ln w="19050">
            <a:solidFill>
              <a:srgbClr val="EC66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2485962" y="1685925"/>
            <a:ext cx="1619209" cy="12382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fr-FR" sz="2400" b="1" i="0" noProof="0" dirty="0">
                <a:solidFill>
                  <a:srgbClr val="FFFFFF"/>
                </a:solidFill>
                <a:latin typeface="Segoe UI"/>
              </a:rPr>
              <a:t>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fr-FR" sz="1200" b="1" i="0" noProof="0" dirty="0">
                <a:solidFill>
                  <a:srgbClr val="FFFFFF"/>
                </a:solidFill>
                <a:latin typeface="Segoe UI"/>
              </a:rPr>
              <a:t>Exigence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FFF3E6"/>
                </a:solidFill>
                <a:latin typeface="Segoe UI"/>
              </a:rPr>
              <a:t>Document structuré + revue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3271" y="2095499"/>
            <a:ext cx="17144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0" i="0" noProof="0" dirty="0">
                <a:solidFill>
                  <a:srgbClr val="717E86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4717" y="1571625"/>
            <a:ext cx="1695407" cy="1428750"/>
          </a:xfrm>
          <a:prstGeom prst="roundRect">
            <a:avLst/>
          </a:prstGeom>
          <a:solidFill>
            <a:srgbClr val="00566F"/>
          </a:solidFill>
          <a:ln w="19050">
            <a:solidFill>
              <a:srgbClr val="005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4352816" y="1685925"/>
            <a:ext cx="1619209" cy="12382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fr-FR" sz="2400" b="1" i="0" noProof="0" dirty="0">
                <a:solidFill>
                  <a:srgbClr val="FFFFFF"/>
                </a:solidFill>
                <a:latin typeface="Segoe UI"/>
              </a:rPr>
              <a:t>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fr-FR" sz="1200" b="1" i="0" noProof="0" dirty="0">
                <a:solidFill>
                  <a:srgbClr val="FFFFFF"/>
                </a:solidFill>
                <a:latin typeface="Segoe UI"/>
              </a:rPr>
              <a:t>Design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C4D8DE"/>
                </a:solidFill>
                <a:latin typeface="Segoe UI"/>
              </a:rPr>
              <a:t>Solution + scénarios d'acceptation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0124" y="2095499"/>
            <a:ext cx="17144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0" i="0" noProof="0" dirty="0">
                <a:solidFill>
                  <a:srgbClr val="717E86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570" y="1571625"/>
            <a:ext cx="1695407" cy="1428750"/>
          </a:xfrm>
          <a:prstGeom prst="roundRect">
            <a:avLst/>
          </a:prstGeom>
          <a:solidFill>
            <a:srgbClr val="EC6608"/>
          </a:solidFill>
          <a:ln w="19050">
            <a:solidFill>
              <a:srgbClr val="EC66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6219669" y="1685925"/>
            <a:ext cx="1619209" cy="12382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fr-FR" sz="2400" b="1" i="0" noProof="0" dirty="0">
                <a:solidFill>
                  <a:srgbClr val="FFFFFF"/>
                </a:solidFill>
                <a:latin typeface="Segoe UI"/>
              </a:rPr>
              <a:t>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fr-FR" sz="1200" b="1" i="0" noProof="0" dirty="0">
                <a:solidFill>
                  <a:srgbClr val="FFFFFF"/>
                </a:solidFill>
                <a:latin typeface="Segoe UI"/>
              </a:rPr>
              <a:t>Plan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FFF3E6"/>
                </a:solidFill>
                <a:latin typeface="Segoe UI"/>
              </a:rPr>
              <a:t>Étapes numérotées +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6978" y="2095499"/>
            <a:ext cx="17144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0" i="0" noProof="0" dirty="0">
                <a:solidFill>
                  <a:srgbClr val="717E86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8423" y="1571625"/>
            <a:ext cx="1695407" cy="1428750"/>
          </a:xfrm>
          <a:prstGeom prst="roundRect">
            <a:avLst/>
          </a:prstGeom>
          <a:solidFill>
            <a:srgbClr val="00566F"/>
          </a:solidFill>
          <a:ln w="19050">
            <a:solidFill>
              <a:srgbClr val="005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8086522" y="1685925"/>
            <a:ext cx="1619209" cy="12382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fr-FR" sz="2400" b="1" i="0" noProof="0" dirty="0">
                <a:solidFill>
                  <a:srgbClr val="FFFFFF"/>
                </a:solidFill>
                <a:latin typeface="Segoe UI"/>
              </a:rPr>
              <a:t>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fr-FR" sz="1200" b="1" i="0" noProof="0" dirty="0">
                <a:solidFill>
                  <a:srgbClr val="FFFFFF"/>
                </a:solidFill>
                <a:latin typeface="Segoe UI"/>
              </a:rPr>
              <a:t>Implémentation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C4D8DE"/>
                </a:solidFill>
                <a:latin typeface="Segoe UI"/>
              </a:rPr>
              <a:t>Code + tests + auto-revue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43831" y="2095499"/>
            <a:ext cx="17144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0" i="0" noProof="0" dirty="0">
                <a:solidFill>
                  <a:srgbClr val="717E86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15277" y="1571625"/>
            <a:ext cx="1695407" cy="1428750"/>
          </a:xfrm>
          <a:prstGeom prst="roundRect">
            <a:avLst/>
          </a:prstGeom>
          <a:solidFill>
            <a:srgbClr val="EC6608"/>
          </a:solidFill>
          <a:ln w="19050">
            <a:solidFill>
              <a:srgbClr val="EC66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4" name="TextBox 23"/>
          <p:cNvSpPr txBox="1"/>
          <p:nvPr/>
        </p:nvSpPr>
        <p:spPr>
          <a:xfrm>
            <a:off x="9953376" y="1685925"/>
            <a:ext cx="1619209" cy="12382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fr-FR" sz="2400" b="1" i="0" noProof="0" dirty="0">
                <a:solidFill>
                  <a:srgbClr val="FFFFFF"/>
                </a:solidFill>
                <a:latin typeface="Segoe UI"/>
              </a:rPr>
              <a:t>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fr-FR" sz="1200" b="1" i="0" noProof="0" dirty="0">
                <a:solidFill>
                  <a:srgbClr val="FFFFFF"/>
                </a:solidFill>
                <a:latin typeface="Segoe UI"/>
              </a:rPr>
              <a:t>Release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FFF3E6"/>
                </a:solidFill>
                <a:latin typeface="Segoe UI"/>
              </a:rPr>
              <a:t>Notes + tag de version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6238" y="3381375"/>
            <a:ext cx="5524361" cy="1666875"/>
          </a:xfrm>
          <a:prstGeom prst="roundRect">
            <a:avLst/>
          </a:prstGeom>
          <a:solidFill>
            <a:srgbClr val="F0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6" name="Rectangle 25"/>
          <p:cNvSpPr/>
          <p:nvPr/>
        </p:nvSpPr>
        <p:spPr>
          <a:xfrm>
            <a:off x="476238" y="3381375"/>
            <a:ext cx="5524361" cy="57150"/>
          </a:xfrm>
          <a:prstGeom prst="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7" name="TextBox 26"/>
          <p:cNvSpPr txBox="1"/>
          <p:nvPr/>
        </p:nvSpPr>
        <p:spPr>
          <a:xfrm>
            <a:off x="628634" y="3533775"/>
            <a:ext cx="5219569" cy="1400175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Chaque phase laisse une trace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0" i="0" noProof="0" dirty="0">
                <a:solidFill>
                  <a:srgbClr val="555555"/>
                </a:solidFill>
                <a:latin typeface="Segoe UI"/>
              </a:rPr>
              <a:t>Brouillon, exigence, design, plan, validation, commits groupés : le workflow double comme documentation du processus de développement.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1095" y="3381375"/>
            <a:ext cx="5524361" cy="1666875"/>
          </a:xfrm>
          <a:prstGeom prst="roundRect">
            <a:avLst/>
          </a:prstGeom>
          <a:solidFill>
            <a:srgbClr val="F0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9" name="Rectangle 28"/>
          <p:cNvSpPr/>
          <p:nvPr/>
        </p:nvSpPr>
        <p:spPr>
          <a:xfrm>
            <a:off x="6191095" y="3381375"/>
            <a:ext cx="5524361" cy="57150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0" name="TextBox 29"/>
          <p:cNvSpPr txBox="1"/>
          <p:nvPr/>
        </p:nvSpPr>
        <p:spPr>
          <a:xfrm>
            <a:off x="6343491" y="3533775"/>
            <a:ext cx="5219569" cy="1400175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fr-FR" sz="1300" b="1" i="0" noProof="0" dirty="0">
                <a:solidFill>
                  <a:srgbClr val="EC6608"/>
                </a:solidFill>
                <a:latin typeface="Segoe UI"/>
              </a:rPr>
              <a:t>Compatible avec tout LLM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0" i="0" noProof="0" dirty="0">
                <a:solidFill>
                  <a:srgbClr val="555555"/>
                </a:solidFill>
                <a:latin typeface="Segoe UI"/>
              </a:rPr>
              <a:t>Les commandes slash se résolvent en </a:t>
            </a:r>
            <a:r>
              <a:rPr lang="fr-FR" sz="1000" b="0" i="0" noProof="0" dirty="0" err="1">
                <a:solidFill>
                  <a:srgbClr val="555555"/>
                </a:solidFill>
                <a:latin typeface="Segoe UI"/>
              </a:rPr>
              <a:t>markdown</a:t>
            </a:r>
            <a:r>
              <a:rPr lang="fr-FR" sz="1000" b="0" i="0" noProof="0" dirty="0">
                <a:solidFill>
                  <a:srgbClr val="555555"/>
                </a:solidFill>
                <a:latin typeface="Segoe UI"/>
              </a:rPr>
              <a:t> brut. </a:t>
            </a:r>
            <a:r>
              <a:rPr lang="fr-FR" sz="1000" b="0" i="0" noProof="0" dirty="0" err="1">
                <a:solidFill>
                  <a:srgbClr val="555555"/>
                </a:solidFill>
                <a:latin typeface="Segoe UI"/>
              </a:rPr>
              <a:t>Copilot</a:t>
            </a:r>
            <a:r>
              <a:rPr lang="fr-FR" sz="1000" b="0" i="0" noProof="0" dirty="0">
                <a:solidFill>
                  <a:srgbClr val="555555"/>
                </a:solidFill>
                <a:latin typeface="Segoe UI"/>
              </a:rPr>
              <a:t>, Claude Code, </a:t>
            </a:r>
            <a:r>
              <a:rPr lang="fr-FR" sz="1000" b="0" i="0" noProof="0" dirty="0" err="1">
                <a:solidFill>
                  <a:srgbClr val="555555"/>
                </a:solidFill>
                <a:latin typeface="Segoe UI"/>
              </a:rPr>
              <a:t>ChatGPT</a:t>
            </a:r>
            <a:r>
              <a:rPr lang="fr-FR" sz="1000" b="0" i="0" noProof="0" dirty="0">
                <a:solidFill>
                  <a:srgbClr val="555555"/>
                </a:solidFill>
                <a:latin typeface="Segoe UI"/>
              </a:rPr>
              <a:t> Codex : tout agent qui lit et écrit des fichiers peut suivre le workflow.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0990" y="6667500"/>
            <a:ext cx="4762380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 err="1">
                <a:solidFill>
                  <a:srgbClr val="AAAAAA"/>
                </a:solidFill>
                <a:latin typeface="Segoe UI"/>
              </a:rPr>
              <a:t>llm-shared</a:t>
            </a: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 - Solution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53476" y="6667500"/>
            <a:ext cx="857228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0990" y="114300"/>
            <a:ext cx="4762380" cy="3810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Organization</a:t>
            </a: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 </a:t>
            </a: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name</a:t>
            </a:r>
            <a:endParaRPr lang="fr-FR" sz="1300" b="1" i="0" noProof="0" dirty="0">
              <a:solidFill>
                <a:srgbClr val="00566F"/>
              </a:solidFill>
              <a:latin typeface="Segoe U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00" b="0" i="0" noProof="0" dirty="0">
                <a:solidFill>
                  <a:srgbClr val="717E86"/>
                </a:solidFill>
                <a:latin typeface="Segoe UI"/>
              </a:rPr>
              <a:t>ORGANIZATION SUBTITLE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29314" y="190500"/>
            <a:ext cx="4381390" cy="1905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717E86"/>
                </a:solidFill>
                <a:latin typeface="Segoe UI"/>
              </a:rPr>
              <a:t>3. Auto-revue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52450"/>
            <a:ext cx="7315017" cy="47625"/>
          </a:xfrm>
          <a:prstGeom prst="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Rectangle 4"/>
          <p:cNvSpPr/>
          <p:nvPr/>
        </p:nvSpPr>
        <p:spPr>
          <a:xfrm>
            <a:off x="7315017" y="552450"/>
            <a:ext cx="4876678" cy="47625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476238" y="685800"/>
            <a:ext cx="11239219" cy="4191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100" b="1" i="0" noProof="0" dirty="0">
                <a:solidFill>
                  <a:srgbClr val="00566F"/>
                </a:solidFill>
                <a:latin typeface="Segoe UI"/>
              </a:rPr>
              <a:t>Principe clé : l'IA révise son propre travail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238" y="1104900"/>
            <a:ext cx="11239219" cy="2667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Ne jamais faire confiance au premier passage : même pour la documentation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2971" y="1619250"/>
            <a:ext cx="4190895" cy="2286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Revue documentaire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5447" y="2190750"/>
            <a:ext cx="2285942" cy="400050"/>
          </a:xfrm>
          <a:prstGeom prst="roundRect">
            <a:avLst/>
          </a:prstGeom>
          <a:solidFill>
            <a:srgbClr val="00566F"/>
          </a:solidFill>
          <a:ln w="19050">
            <a:solidFill>
              <a:srgbClr val="005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>
                <a:solidFill>
                  <a:srgbClr val="FFFFFF"/>
                </a:solidFill>
                <a:latin typeface="Segoe UI"/>
              </a:rPr>
              <a:t>Écriture du document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43171" y="2590800"/>
            <a:ext cx="19049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0" i="0" noProof="0" dirty="0">
                <a:solidFill>
                  <a:srgbClr val="717E86"/>
                </a:solidFill>
                <a:latin typeface="Segoe UI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95447" y="2781300"/>
            <a:ext cx="2285942" cy="4000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66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>
                <a:solidFill>
                  <a:srgbClr val="EC6608"/>
                </a:solidFill>
                <a:latin typeface="Segoe UI"/>
              </a:rPr>
              <a:t>IA pose des questions ouvertes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5447" y="3190875"/>
            <a:ext cx="2285942" cy="1524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1" i="0" noProof="0" dirty="0">
                <a:solidFill>
                  <a:srgbClr val="EC6608"/>
                </a:solidFill>
                <a:latin typeface="Segoe UI"/>
              </a:rPr>
              <a:t>[STOP] Humain répond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3171" y="3343275"/>
            <a:ext cx="19049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0" i="0" noProof="0" dirty="0">
                <a:solidFill>
                  <a:srgbClr val="717E86"/>
                </a:solidFill>
                <a:latin typeface="Segoe UI"/>
              </a:rPr>
              <a:t>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95447" y="3533775"/>
            <a:ext cx="2285942" cy="4000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5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>
                <a:solidFill>
                  <a:srgbClr val="00566F"/>
                </a:solidFill>
                <a:latin typeface="Segoe UI"/>
              </a:rPr>
              <a:t>Consolidation des réponses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5447" y="3943350"/>
            <a:ext cx="2285942" cy="1524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1" i="0" noProof="0" dirty="0">
                <a:solidFill>
                  <a:srgbClr val="00566F"/>
                </a:solidFill>
                <a:latin typeface="Segoe UI"/>
              </a:rPr>
              <a:t>↻ Nouvelles questions ? Boucle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43171" y="4095750"/>
            <a:ext cx="19049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0" i="0" noProof="0" dirty="0">
                <a:solidFill>
                  <a:srgbClr val="717E86"/>
                </a:solidFill>
                <a:latin typeface="Segoe UI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95447" y="4286250"/>
            <a:ext cx="2285942" cy="400050"/>
          </a:xfrm>
          <a:prstGeom prst="roundRect">
            <a:avLst/>
          </a:prstGeom>
          <a:solidFill>
            <a:srgbClr val="EC6608"/>
          </a:solidFill>
          <a:ln w="19050">
            <a:solidFill>
              <a:srgbClr val="EC66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>
                <a:solidFill>
                  <a:srgbClr val="FFFFFF"/>
                </a:solidFill>
                <a:latin typeface="Segoe UI"/>
              </a:rPr>
              <a:t>Document validé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7828" y="1619250"/>
            <a:ext cx="4190895" cy="2286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Revue d'implémentation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10304" y="2190750"/>
            <a:ext cx="2285942" cy="400050"/>
          </a:xfrm>
          <a:prstGeom prst="roundRect">
            <a:avLst/>
          </a:prstGeom>
          <a:solidFill>
            <a:srgbClr val="00566F"/>
          </a:solidFill>
          <a:ln w="19050">
            <a:solidFill>
              <a:srgbClr val="005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>
                <a:solidFill>
                  <a:srgbClr val="FFFFFF"/>
                </a:solidFill>
                <a:latin typeface="Segoe UI"/>
              </a:rPr>
              <a:t>Génération du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028" y="2590800"/>
            <a:ext cx="19049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0" i="0" noProof="0" dirty="0">
                <a:solidFill>
                  <a:srgbClr val="717E86"/>
                </a:solidFill>
                <a:latin typeface="Segoe UI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0304" y="2781300"/>
            <a:ext cx="2285942" cy="4000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66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>
                <a:solidFill>
                  <a:srgbClr val="EC6608"/>
                </a:solidFill>
                <a:latin typeface="Segoe UI"/>
              </a:rPr>
              <a:t>Vérification : code = plan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0304" y="3190875"/>
            <a:ext cx="2285942" cy="1524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1" i="0" noProof="0" dirty="0">
                <a:solidFill>
                  <a:srgbClr val="EC6608"/>
                </a:solidFill>
                <a:latin typeface="Segoe UI"/>
              </a:rPr>
              <a:t>[STOP] Écarts détectés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58028" y="3343275"/>
            <a:ext cx="19049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0" i="0" noProof="0" dirty="0">
                <a:solidFill>
                  <a:srgbClr val="717E86"/>
                </a:solidFill>
                <a:latin typeface="Segoe UI"/>
              </a:rPr>
              <a:t>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10304" y="3533775"/>
            <a:ext cx="2285942" cy="4000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5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>
                <a:solidFill>
                  <a:srgbClr val="00566F"/>
                </a:solidFill>
                <a:latin typeface="Segoe UI"/>
              </a:rPr>
              <a:t>Corrections itératives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0304" y="3943350"/>
            <a:ext cx="2285942" cy="1524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1" i="0" noProof="0" dirty="0">
                <a:solidFill>
                  <a:srgbClr val="00566F"/>
                </a:solidFill>
                <a:latin typeface="Segoe UI"/>
              </a:rPr>
              <a:t>↻ Vérification jusqu'à conformité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58028" y="4095750"/>
            <a:ext cx="19049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0" i="0" noProof="0" dirty="0">
                <a:solidFill>
                  <a:srgbClr val="717E86"/>
                </a:solidFill>
                <a:latin typeface="Segoe UI"/>
              </a:rPr>
              <a:t>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0304" y="4286250"/>
            <a:ext cx="2285942" cy="400050"/>
          </a:xfrm>
          <a:prstGeom prst="roundRect">
            <a:avLst/>
          </a:prstGeom>
          <a:solidFill>
            <a:srgbClr val="EC6608"/>
          </a:solidFill>
          <a:ln w="19050">
            <a:solidFill>
              <a:srgbClr val="EC66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>
                <a:solidFill>
                  <a:srgbClr val="FFFFFF"/>
                </a:solidFill>
                <a:latin typeface="Segoe UI"/>
              </a:rPr>
              <a:t>Étape validée 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0990" y="6667500"/>
            <a:ext cx="4762380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 err="1">
                <a:solidFill>
                  <a:srgbClr val="AAAAAA"/>
                </a:solidFill>
                <a:latin typeface="Segoe UI"/>
              </a:rPr>
              <a:t>llm-shared</a:t>
            </a: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 - Auto-revue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3476" y="6667500"/>
            <a:ext cx="857228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0990" y="114300"/>
            <a:ext cx="4762380" cy="3810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Organization</a:t>
            </a: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 </a:t>
            </a: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name</a:t>
            </a:r>
            <a:endParaRPr lang="fr-FR" sz="1300" b="1" i="0" noProof="0" dirty="0">
              <a:solidFill>
                <a:srgbClr val="00566F"/>
              </a:solidFill>
              <a:latin typeface="Segoe U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00" b="0" i="0" noProof="0" dirty="0">
                <a:solidFill>
                  <a:srgbClr val="717E86"/>
                </a:solidFill>
                <a:latin typeface="Segoe UI"/>
              </a:rPr>
              <a:t>ORGANIZATION SUBTITLE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29314" y="190500"/>
            <a:ext cx="4381390" cy="1905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717E86"/>
                </a:solidFill>
                <a:latin typeface="Segoe UI"/>
              </a:rPr>
              <a:t>3. Auto-revue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52450"/>
            <a:ext cx="7315017" cy="47625"/>
          </a:xfrm>
          <a:prstGeom prst="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Rectangle 4"/>
          <p:cNvSpPr/>
          <p:nvPr/>
        </p:nvSpPr>
        <p:spPr>
          <a:xfrm>
            <a:off x="7315017" y="552450"/>
            <a:ext cx="4876678" cy="47625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476238" y="685800"/>
            <a:ext cx="11239219" cy="4191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100" b="1" i="0" noProof="0" dirty="0">
                <a:solidFill>
                  <a:srgbClr val="00566F"/>
                </a:solidFill>
                <a:latin typeface="Segoe UI"/>
              </a:rPr>
              <a:t>L'auto-revue en pratique : deux </a:t>
            </a:r>
            <a:r>
              <a:rPr lang="fr-FR" sz="2100" b="1" i="0" noProof="0" dirty="0" err="1">
                <a:solidFill>
                  <a:srgbClr val="00566F"/>
                </a:solidFill>
                <a:latin typeface="Segoe UI"/>
              </a:rPr>
              <a:t>skills</a:t>
            </a:r>
            <a:r>
              <a:rPr lang="fr-FR" sz="2100" b="1" i="0" noProof="0" dirty="0">
                <a:solidFill>
                  <a:srgbClr val="00566F"/>
                </a:solidFill>
                <a:latin typeface="Segoe UI"/>
              </a:rPr>
              <a:t> dédiés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238" y="1104900"/>
            <a:ext cx="11239219" cy="2667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/</a:t>
            </a:r>
            <a:r>
              <a:rPr lang="fr-FR" sz="1050" b="0" i="0" noProof="0" dirty="0" err="1">
                <a:solidFill>
                  <a:srgbClr val="717E86"/>
                </a:solidFill>
                <a:latin typeface="Segoe UI"/>
              </a:rPr>
              <a:t>review</a:t>
            </a: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-</a:t>
            </a:r>
            <a:r>
              <a:rPr lang="fr-FR" sz="1050" b="0" i="0" noProof="0" dirty="0" err="1">
                <a:solidFill>
                  <a:srgbClr val="717E86"/>
                </a:solidFill>
                <a:latin typeface="Segoe UI"/>
              </a:rPr>
              <a:t>ask</a:t>
            </a: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-questions relit le document, /</a:t>
            </a:r>
            <a:r>
              <a:rPr lang="fr-FR" sz="1050" b="0" i="0" noProof="0" dirty="0" err="1">
                <a:solidFill>
                  <a:srgbClr val="717E86"/>
                </a:solidFill>
                <a:latin typeface="Segoe UI"/>
              </a:rPr>
              <a:t>implementation</a:t>
            </a: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-check relit le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2971" y="1666875"/>
            <a:ext cx="4190895" cy="2286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Revue documentaire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476" y="1895474"/>
            <a:ext cx="4571885" cy="20955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00" b="0" i="1" noProof="0" dirty="0">
                <a:solidFill>
                  <a:srgbClr val="717E86"/>
                </a:solidFill>
                <a:latin typeface="Segoe UI"/>
              </a:rPr>
              <a:t>l'IA relit ce qu'elle vient de rédiger : </a:t>
            </a:r>
            <a:r>
              <a:rPr lang="fr-FR" sz="900" b="0" i="1" noProof="0" dirty="0">
                <a:solidFill>
                  <a:srgbClr val="EC6608"/>
                </a:solidFill>
                <a:latin typeface="Segoe UI"/>
              </a:rPr>
              <a:t>/</a:t>
            </a:r>
            <a:r>
              <a:rPr lang="fr-FR" sz="900" b="0" i="1" noProof="0" dirty="0" err="1">
                <a:solidFill>
                  <a:srgbClr val="EC6608"/>
                </a:solidFill>
                <a:latin typeface="Segoe UI"/>
              </a:rPr>
              <a:t>review</a:t>
            </a:r>
            <a:r>
              <a:rPr lang="fr-FR" sz="900" b="0" i="1" noProof="0" dirty="0">
                <a:solidFill>
                  <a:srgbClr val="EC6608"/>
                </a:solidFill>
                <a:latin typeface="Segoe UI"/>
              </a:rPr>
              <a:t>-</a:t>
            </a:r>
            <a:r>
              <a:rPr lang="fr-FR" sz="900" b="0" i="1" noProof="0" dirty="0" err="1">
                <a:solidFill>
                  <a:srgbClr val="EC6608"/>
                </a:solidFill>
                <a:latin typeface="Segoe UI"/>
              </a:rPr>
              <a:t>ask</a:t>
            </a:r>
            <a:r>
              <a:rPr lang="fr-FR" sz="900" b="0" i="1" noProof="0" dirty="0">
                <a:solidFill>
                  <a:srgbClr val="EC6608"/>
                </a:solidFill>
                <a:latin typeface="Segoe UI"/>
              </a:rPr>
              <a:t>-questions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95447" y="2238375"/>
            <a:ext cx="2285942" cy="361950"/>
          </a:xfrm>
          <a:prstGeom prst="roundRect">
            <a:avLst/>
          </a:prstGeom>
          <a:solidFill>
            <a:srgbClr val="00566F"/>
          </a:solidFill>
          <a:ln w="19050">
            <a:solidFill>
              <a:srgbClr val="005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>
                <a:solidFill>
                  <a:srgbClr val="FFFFFF"/>
                </a:solidFill>
                <a:latin typeface="Segoe UI"/>
              </a:rPr>
              <a:t>Question : contexte &amp; problème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3171" y="2600325"/>
            <a:ext cx="19049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0" i="0" noProof="0" dirty="0">
                <a:solidFill>
                  <a:srgbClr val="717E86"/>
                </a:solidFill>
                <a:latin typeface="Segoe UI"/>
              </a:rPr>
              <a:t>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447" y="2790825"/>
            <a:ext cx="2285942" cy="3619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5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>
                <a:solidFill>
                  <a:srgbClr val="00566F"/>
                </a:solidFill>
                <a:latin typeface="Segoe UI"/>
              </a:rPr>
              <a:t>Reformulation BBQ des enjeux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3171" y="3152775"/>
            <a:ext cx="19049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0" i="0" noProof="0" dirty="0">
                <a:solidFill>
                  <a:srgbClr val="717E86"/>
                </a:solidFill>
                <a:latin typeface="Segoe UI"/>
              </a:rPr>
              <a:t>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95447" y="3343275"/>
            <a:ext cx="2285942" cy="3619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66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>
                <a:solidFill>
                  <a:srgbClr val="EC6608"/>
                </a:solidFill>
                <a:latin typeface="Segoe UI"/>
              </a:rPr>
              <a:t>Options X1 / X2 / X3 : pour &amp; contre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3171" y="3705224"/>
            <a:ext cx="19049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0" i="0" noProof="0" dirty="0">
                <a:solidFill>
                  <a:srgbClr val="717E86"/>
                </a:solidFill>
                <a:latin typeface="Segoe UI"/>
              </a:rPr>
              <a:t>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95447" y="3895725"/>
            <a:ext cx="2285942" cy="3619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5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>
                <a:solidFill>
                  <a:srgbClr val="00566F"/>
                </a:solidFill>
                <a:latin typeface="Segoe UI"/>
              </a:rPr>
              <a:t>Option recommandée + arguments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5447" y="4267200"/>
            <a:ext cx="2285942" cy="1524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1" i="0" noProof="0" dirty="0">
                <a:solidFill>
                  <a:srgbClr val="EC6608"/>
                </a:solidFill>
                <a:latin typeface="Segoe UI"/>
              </a:rPr>
              <a:t>[STOP] Humain répond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43171" y="4419600"/>
            <a:ext cx="19049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0" i="0" noProof="0" dirty="0">
                <a:solidFill>
                  <a:srgbClr val="717E86"/>
                </a:solidFill>
                <a:latin typeface="Segoe UI"/>
              </a:rP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95447" y="4610100"/>
            <a:ext cx="2285942" cy="361950"/>
          </a:xfrm>
          <a:prstGeom prst="roundRect">
            <a:avLst/>
          </a:prstGeom>
          <a:solidFill>
            <a:srgbClr val="EC6608"/>
          </a:solidFill>
          <a:ln w="19050">
            <a:solidFill>
              <a:srgbClr val="EC66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>
                <a:solidFill>
                  <a:srgbClr val="FFFFFF"/>
                </a:solidFill>
                <a:latin typeface="Segoe UI"/>
              </a:rPr>
              <a:t>Réponse : option XY + tableau récap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7828" y="1666875"/>
            <a:ext cx="4190895" cy="2286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Revue d'implémentation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333" y="1895474"/>
            <a:ext cx="4571885" cy="20955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00" b="0" i="1" noProof="0" dirty="0">
                <a:solidFill>
                  <a:srgbClr val="717E86"/>
                </a:solidFill>
                <a:latin typeface="Segoe UI"/>
              </a:rPr>
              <a:t>l'IA relit ce qu'elle vient de coder : </a:t>
            </a:r>
            <a:r>
              <a:rPr lang="fr-FR" sz="900" b="0" i="1" noProof="0" dirty="0">
                <a:solidFill>
                  <a:srgbClr val="EC6608"/>
                </a:solidFill>
                <a:latin typeface="Segoe UI"/>
              </a:rPr>
              <a:t>/</a:t>
            </a:r>
            <a:r>
              <a:rPr lang="fr-FR" sz="900" b="0" i="1" noProof="0" dirty="0" err="1">
                <a:solidFill>
                  <a:srgbClr val="EC6608"/>
                </a:solidFill>
                <a:latin typeface="Segoe UI"/>
              </a:rPr>
              <a:t>implementation</a:t>
            </a:r>
            <a:r>
              <a:rPr lang="fr-FR" sz="900" b="0" i="1" noProof="0" dirty="0">
                <a:solidFill>
                  <a:srgbClr val="EC6608"/>
                </a:solidFill>
                <a:latin typeface="Segoe UI"/>
              </a:rPr>
              <a:t>-check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0304" y="2238375"/>
            <a:ext cx="2285942" cy="361950"/>
          </a:xfrm>
          <a:prstGeom prst="roundRect">
            <a:avLst/>
          </a:prstGeom>
          <a:solidFill>
            <a:srgbClr val="00566F"/>
          </a:solidFill>
          <a:ln w="19050">
            <a:solidFill>
              <a:srgbClr val="005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>
                <a:solidFill>
                  <a:srgbClr val="FFFFFF"/>
                </a:solidFill>
                <a:latin typeface="Segoe UI"/>
              </a:rPr>
              <a:t>Verdict : Oui / Non - étape 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58028" y="2600325"/>
            <a:ext cx="19049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0" i="0" noProof="0" dirty="0">
                <a:solidFill>
                  <a:srgbClr val="717E86"/>
                </a:solidFill>
                <a:latin typeface="Segoe UI"/>
              </a:rPr>
              <a:t>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10304" y="2790825"/>
            <a:ext cx="2285942" cy="3619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66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>
                <a:solidFill>
                  <a:srgbClr val="EC6608"/>
                </a:solidFill>
                <a:latin typeface="Segoe UI"/>
              </a:rPr>
              <a:t>Ce qui est fait / travail manquant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0304" y="3162300"/>
            <a:ext cx="2285942" cy="1524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1" i="0" noProof="0" dirty="0">
                <a:solidFill>
                  <a:srgbClr val="EC6608"/>
                </a:solidFill>
                <a:latin typeface="Segoe UI"/>
              </a:rPr>
              <a:t>[STOP] Écarts → </a:t>
            </a:r>
            <a:r>
              <a:rPr lang="fr-FR" sz="850" b="1" i="0" noProof="0" dirty="0" err="1">
                <a:solidFill>
                  <a:srgbClr val="EC6608"/>
                </a:solidFill>
                <a:latin typeface="Segoe UI"/>
              </a:rPr>
              <a:t>implement-missing</a:t>
            </a:r>
            <a:endParaRPr lang="fr-FR" sz="850" b="1" i="0" noProof="0" dirty="0">
              <a:solidFill>
                <a:srgbClr val="EC6608"/>
              </a:solidFill>
              <a:latin typeface="Segoe U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858028" y="3314700"/>
            <a:ext cx="19049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0" i="0" noProof="0" dirty="0">
                <a:solidFill>
                  <a:srgbClr val="717E86"/>
                </a:solidFill>
                <a:latin typeface="Segoe UI"/>
              </a:rPr>
              <a:t>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0304" y="3505200"/>
            <a:ext cx="2285942" cy="3619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5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>
                <a:solidFill>
                  <a:srgbClr val="00566F"/>
                </a:solidFill>
                <a:latin typeface="Segoe UI"/>
              </a:rPr>
              <a:t>Architecture DDD-Hexagonal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8028" y="3867150"/>
            <a:ext cx="19049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0" i="0" noProof="0" dirty="0">
                <a:solidFill>
                  <a:srgbClr val="717E86"/>
                </a:solidFill>
                <a:latin typeface="Segoe UI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10304" y="4057650"/>
            <a:ext cx="2285942" cy="3619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5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>
                <a:solidFill>
                  <a:srgbClr val="00566F"/>
                </a:solidFill>
                <a:latin typeface="Segoe UI"/>
              </a:rPr>
              <a:t>Performance : pas de O(n²)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58028" y="4419600"/>
            <a:ext cx="19049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0" i="0" noProof="0" dirty="0">
                <a:solidFill>
                  <a:srgbClr val="717E86"/>
                </a:solidFill>
                <a:latin typeface="Segoe UI"/>
              </a:rPr>
              <a:t>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10304" y="4610100"/>
            <a:ext cx="2285942" cy="3619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5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>
                <a:solidFill>
                  <a:srgbClr val="00566F"/>
                </a:solidFill>
                <a:latin typeface="Segoe UI"/>
              </a:rPr>
              <a:t>Couverture unitaire 100% 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58028" y="4972050"/>
            <a:ext cx="19049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0" i="0" noProof="0" dirty="0">
                <a:solidFill>
                  <a:srgbClr val="717E86"/>
                </a:solidFill>
                <a:latin typeface="Segoe UI"/>
              </a:rPr>
              <a:t>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10304" y="5162550"/>
            <a:ext cx="2285942" cy="361950"/>
          </a:xfrm>
          <a:prstGeom prst="roundRect">
            <a:avLst/>
          </a:prstGeom>
          <a:solidFill>
            <a:srgbClr val="EC6608"/>
          </a:solidFill>
          <a:ln w="19050">
            <a:solidFill>
              <a:srgbClr val="EC66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>
                <a:solidFill>
                  <a:srgbClr val="FFFFFF"/>
                </a:solidFill>
                <a:latin typeface="Segoe UI"/>
              </a:rPr>
              <a:t>Intégrité fonctionnelle préservée 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0990" y="6667500"/>
            <a:ext cx="4762380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 err="1">
                <a:solidFill>
                  <a:srgbClr val="AAAAAA"/>
                </a:solidFill>
                <a:latin typeface="Segoe UI"/>
              </a:rPr>
              <a:t>llm-shared</a:t>
            </a: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 - Auto-revue en pratique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53476" y="6667500"/>
            <a:ext cx="857228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0990" y="114300"/>
            <a:ext cx="4762380" cy="3810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Organization</a:t>
            </a: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 </a:t>
            </a: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name</a:t>
            </a:r>
            <a:endParaRPr lang="fr-FR" sz="1300" b="1" i="0" noProof="0" dirty="0">
              <a:solidFill>
                <a:srgbClr val="00566F"/>
              </a:solidFill>
              <a:latin typeface="Segoe U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00" b="0" i="0" noProof="0" dirty="0">
                <a:solidFill>
                  <a:srgbClr val="717E86"/>
                </a:solidFill>
                <a:latin typeface="Segoe UI"/>
              </a:rPr>
              <a:t>ORGANIZATION SUBTITLE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29314" y="190500"/>
            <a:ext cx="4381390" cy="1905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717E86"/>
                </a:solidFill>
                <a:latin typeface="Segoe UI"/>
              </a:rPr>
              <a:t>4. Vue d'ensemble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52450"/>
            <a:ext cx="7315017" cy="47625"/>
          </a:xfrm>
          <a:prstGeom prst="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Rectangle 4"/>
          <p:cNvSpPr/>
          <p:nvPr/>
        </p:nvSpPr>
        <p:spPr>
          <a:xfrm>
            <a:off x="7315017" y="552450"/>
            <a:ext cx="4876678" cy="47625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476238" y="685800"/>
            <a:ext cx="11239219" cy="4191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100" b="1" i="0" noProof="0" dirty="0">
                <a:solidFill>
                  <a:srgbClr val="00566F"/>
                </a:solidFill>
                <a:latin typeface="Segoe UI"/>
              </a:rPr>
              <a:t>Vue d'ensemble du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238" y="1104900"/>
            <a:ext cx="11239219" cy="2667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Du brouillon à la release taguée : phases et artefacts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6238" y="1524000"/>
            <a:ext cx="1142971" cy="381000"/>
          </a:xfrm>
          <a:prstGeom prst="round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00" b="1" i="0" noProof="0" dirty="0">
                <a:solidFill>
                  <a:srgbClr val="FFFFFF"/>
                </a:solidFill>
                <a:latin typeface="Segoe UI"/>
              </a:rPr>
              <a:t>Brouillon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259" y="1619250"/>
            <a:ext cx="228594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 i="0" noProof="0" dirty="0">
                <a:solidFill>
                  <a:srgbClr val="717E86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04952" y="1524000"/>
            <a:ext cx="9810504" cy="381000"/>
          </a:xfrm>
          <a:prstGeom prst="roundRect">
            <a:avLst/>
          </a:prstGeom>
          <a:solidFill>
            <a:srgbClr val="E6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Note libre → </a:t>
            </a:r>
            <a:r>
              <a:rPr lang="fr-FR" sz="1000" b="0" i="0" noProof="0" dirty="0">
                <a:solidFill>
                  <a:srgbClr val="EC6608"/>
                </a:solidFill>
                <a:latin typeface="Segoe UI"/>
              </a:rPr>
              <a:t>/process-draft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 → classification, renommage, branche d'effort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6238" y="2019300"/>
            <a:ext cx="1142971" cy="381000"/>
          </a:xfrm>
          <a:prstGeom prst="round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00" b="1" i="0" noProof="0" dirty="0">
                <a:solidFill>
                  <a:srgbClr val="FFFFFF"/>
                </a:solidFill>
                <a:latin typeface="Segoe UI"/>
              </a:rPr>
              <a:t>Exigence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38259" y="2114550"/>
            <a:ext cx="228594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 i="0" noProof="0" dirty="0">
                <a:solidFill>
                  <a:srgbClr val="717E86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04952" y="2019300"/>
            <a:ext cx="9810504" cy="381000"/>
          </a:xfrm>
          <a:prstGeom prst="roundRect">
            <a:avLst/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0" i="0" noProof="0" dirty="0">
                <a:solidFill>
                  <a:srgbClr val="EC6608"/>
                </a:solidFill>
                <a:latin typeface="Segoe UI"/>
              </a:rPr>
              <a:t>/</a:t>
            </a:r>
            <a:r>
              <a:rPr lang="fr-FR" sz="1000" b="0" i="0" noProof="0" dirty="0" err="1">
                <a:solidFill>
                  <a:srgbClr val="EC6608"/>
                </a:solidFill>
                <a:latin typeface="Segoe UI"/>
              </a:rPr>
              <a:t>write-requirement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 → boucle de revue → </a:t>
            </a:r>
            <a:r>
              <a:rPr lang="fr-FR" sz="1000" b="0" i="0" noProof="0" dirty="0">
                <a:solidFill>
                  <a:srgbClr val="EC6608"/>
                </a:solidFill>
                <a:latin typeface="Segoe UI"/>
              </a:rPr>
              <a:t>/</a:t>
            </a:r>
            <a:r>
              <a:rPr lang="fr-FR" sz="1000" b="0" i="0" noProof="0" dirty="0" err="1">
                <a:solidFill>
                  <a:srgbClr val="EC6608"/>
                </a:solidFill>
                <a:latin typeface="Segoe UI"/>
              </a:rPr>
              <a:t>review</a:t>
            </a:r>
            <a:r>
              <a:rPr lang="fr-FR" sz="1000" b="0" i="0" noProof="0" dirty="0">
                <a:solidFill>
                  <a:srgbClr val="EC6608"/>
                </a:solidFill>
                <a:latin typeface="Segoe UI"/>
              </a:rPr>
              <a:t>-</a:t>
            </a:r>
            <a:r>
              <a:rPr lang="fr-FR" sz="1000" b="0" i="0" noProof="0" dirty="0" err="1">
                <a:solidFill>
                  <a:srgbClr val="EC6608"/>
                </a:solidFill>
                <a:latin typeface="Segoe UI"/>
              </a:rPr>
              <a:t>ask</a:t>
            </a:r>
            <a:r>
              <a:rPr lang="fr-FR" sz="1000" b="0" i="0" noProof="0" dirty="0">
                <a:solidFill>
                  <a:srgbClr val="EC6608"/>
                </a:solidFill>
                <a:latin typeface="Segoe UI"/>
              </a:rPr>
              <a:t>-questions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 + </a:t>
            </a:r>
            <a:r>
              <a:rPr lang="fr-FR" sz="1000" b="0" i="0" noProof="0" dirty="0">
                <a:solidFill>
                  <a:srgbClr val="EC6608"/>
                </a:solidFill>
                <a:latin typeface="Segoe UI"/>
              </a:rPr>
              <a:t>/</a:t>
            </a:r>
            <a:r>
              <a:rPr lang="fr-FR" sz="1000" b="0" i="0" noProof="0" dirty="0" err="1">
                <a:solidFill>
                  <a:srgbClr val="EC6608"/>
                </a:solidFill>
                <a:latin typeface="Segoe UI"/>
              </a:rPr>
              <a:t>consolidate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 → document validé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6238" y="2514600"/>
            <a:ext cx="1142971" cy="381000"/>
          </a:xfrm>
          <a:prstGeom prst="round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00" b="1" i="0" noProof="0" dirty="0">
                <a:solidFill>
                  <a:srgbClr val="FFFFFF"/>
                </a:solidFill>
                <a:latin typeface="Segoe UI"/>
              </a:rPr>
              <a:t>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38259" y="2609850"/>
            <a:ext cx="228594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 i="0" noProof="0" dirty="0">
                <a:solidFill>
                  <a:srgbClr val="717E86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4952" y="2514600"/>
            <a:ext cx="9810504" cy="381000"/>
          </a:xfrm>
          <a:prstGeom prst="roundRect">
            <a:avLst/>
          </a:prstGeom>
          <a:solidFill>
            <a:srgbClr val="E6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0" i="0" noProof="0" dirty="0">
                <a:solidFill>
                  <a:srgbClr val="EC6608"/>
                </a:solidFill>
                <a:latin typeface="Segoe UI"/>
              </a:rPr>
              <a:t>/</a:t>
            </a:r>
            <a:r>
              <a:rPr lang="fr-FR" sz="1000" b="0" i="0" noProof="0" dirty="0" err="1">
                <a:solidFill>
                  <a:srgbClr val="EC6608"/>
                </a:solidFill>
                <a:latin typeface="Segoe UI"/>
              </a:rPr>
              <a:t>write</a:t>
            </a:r>
            <a:r>
              <a:rPr lang="fr-FR" sz="1000" b="0" i="0" noProof="0" dirty="0">
                <a:solidFill>
                  <a:srgbClr val="EC6608"/>
                </a:solidFill>
                <a:latin typeface="Segoe UI"/>
              </a:rPr>
              <a:t>-design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 → scope, contraintes, comportement cible, scénarios d'acceptation → revue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6238" y="3009900"/>
            <a:ext cx="1142971" cy="381000"/>
          </a:xfrm>
          <a:prstGeom prst="round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00" b="1" i="0" noProof="0" dirty="0">
                <a:solidFill>
                  <a:srgbClr val="FFFFFF"/>
                </a:solidFill>
                <a:latin typeface="Segoe UI"/>
              </a:rPr>
              <a:t>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38259" y="3105150"/>
            <a:ext cx="228594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 i="0" noProof="0" dirty="0">
                <a:solidFill>
                  <a:srgbClr val="717E86"/>
                </a:solidFill>
                <a:latin typeface="Segoe U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04952" y="3009900"/>
            <a:ext cx="9810504" cy="381000"/>
          </a:xfrm>
          <a:prstGeom prst="roundRect">
            <a:avLst/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0" i="0" noProof="0" dirty="0">
                <a:solidFill>
                  <a:srgbClr val="EC6608"/>
                </a:solidFill>
                <a:latin typeface="Segoe UI"/>
              </a:rPr>
              <a:t>/</a:t>
            </a:r>
            <a:r>
              <a:rPr lang="fr-FR" sz="1000" b="0" i="0" noProof="0" dirty="0" err="1">
                <a:solidFill>
                  <a:srgbClr val="EC6608"/>
                </a:solidFill>
                <a:latin typeface="Segoe UI"/>
              </a:rPr>
              <a:t>write</a:t>
            </a:r>
            <a:r>
              <a:rPr lang="fr-FR" sz="1000" b="0" i="0" noProof="0" dirty="0">
                <a:solidFill>
                  <a:srgbClr val="EC6608"/>
                </a:solidFill>
                <a:latin typeface="Segoe UI"/>
              </a:rPr>
              <a:t>-plans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 → étapes numérotées, tests seuils (qui échouent d'abord), tests d'acceptation → revue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6238" y="3505200"/>
            <a:ext cx="1142971" cy="381000"/>
          </a:xfrm>
          <a:prstGeom prst="round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00" b="1" i="0" noProof="0" dirty="0" err="1">
                <a:solidFill>
                  <a:srgbClr val="FFFFFF"/>
                </a:solidFill>
                <a:latin typeface="Segoe UI"/>
              </a:rPr>
              <a:t>Implé</a:t>
            </a:r>
            <a:r>
              <a:rPr lang="fr-FR" sz="1100" b="1" i="0" noProof="0" dirty="0">
                <a:solidFill>
                  <a:srgbClr val="FFFFFF"/>
                </a:solidFill>
                <a:latin typeface="Segoe UI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259" y="3600450"/>
            <a:ext cx="228594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 i="0" noProof="0" dirty="0">
                <a:solidFill>
                  <a:srgbClr val="717E86"/>
                </a:solidFill>
                <a:latin typeface="Segoe U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04952" y="3505200"/>
            <a:ext cx="9810504" cy="381000"/>
          </a:xfrm>
          <a:prstGeom prst="roundRect">
            <a:avLst/>
          </a:prstGeom>
          <a:solidFill>
            <a:srgbClr val="E6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0" i="0" noProof="0" dirty="0">
                <a:solidFill>
                  <a:srgbClr val="EC6608"/>
                </a:solidFill>
                <a:latin typeface="Segoe UI"/>
              </a:rPr>
              <a:t>/</a:t>
            </a:r>
            <a:r>
              <a:rPr lang="fr-FR" sz="1000" b="0" i="0" noProof="0" dirty="0" err="1">
                <a:solidFill>
                  <a:srgbClr val="EC6608"/>
                </a:solidFill>
                <a:latin typeface="Segoe UI"/>
              </a:rPr>
              <a:t>implement-step</a:t>
            </a:r>
            <a:r>
              <a:rPr lang="fr-FR" sz="1000" b="0" i="0" noProof="0" dirty="0">
                <a:solidFill>
                  <a:srgbClr val="EC6608"/>
                </a:solidFill>
                <a:latin typeface="Segoe UI"/>
              </a:rPr>
              <a:t> N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 → </a:t>
            </a:r>
            <a:r>
              <a:rPr lang="fr-FR" sz="1000" b="0" i="0" noProof="0" dirty="0">
                <a:solidFill>
                  <a:srgbClr val="EC6608"/>
                </a:solidFill>
                <a:latin typeface="Segoe UI"/>
              </a:rPr>
              <a:t>/</a:t>
            </a:r>
            <a:r>
              <a:rPr lang="fr-FR" sz="1000" b="0" i="0" noProof="0" dirty="0" err="1">
                <a:solidFill>
                  <a:srgbClr val="EC6608"/>
                </a:solidFill>
                <a:latin typeface="Segoe UI"/>
              </a:rPr>
              <a:t>implementation</a:t>
            </a:r>
            <a:r>
              <a:rPr lang="fr-FR" sz="1000" b="0" i="0" noProof="0" dirty="0">
                <a:solidFill>
                  <a:srgbClr val="EC6608"/>
                </a:solidFill>
                <a:latin typeface="Segoe UI"/>
              </a:rPr>
              <a:t>-check N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 → commits groupés </a:t>
            </a:r>
            <a:r>
              <a:rPr lang="fr-FR" sz="1000" b="0" i="0" noProof="0" dirty="0" err="1">
                <a:solidFill>
                  <a:srgbClr val="EC6608"/>
                </a:solidFill>
                <a:latin typeface="Segoe UI"/>
              </a:rPr>
              <a:t>gcba</a:t>
            </a:r>
            <a:endParaRPr lang="fr-FR" sz="1000" b="0" i="0" noProof="0" dirty="0">
              <a:solidFill>
                <a:srgbClr val="EC6608"/>
              </a:solidFill>
              <a:latin typeface="Segoe U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76238" y="4000500"/>
            <a:ext cx="1142971" cy="381000"/>
          </a:xfrm>
          <a:prstGeom prst="round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00" b="1" i="0" noProof="0" dirty="0">
                <a:solidFill>
                  <a:srgbClr val="FFFFFF"/>
                </a:solidFill>
                <a:latin typeface="Segoe UI"/>
              </a:rPr>
              <a:t>Release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38259" y="4095750"/>
            <a:ext cx="228594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400" b="0" i="0" noProof="0" dirty="0">
                <a:solidFill>
                  <a:srgbClr val="717E86"/>
                </a:solidFill>
                <a:latin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4952" y="4000500"/>
            <a:ext cx="9810504" cy="381000"/>
          </a:xfrm>
          <a:prstGeom prst="roundRect">
            <a:avLst/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0" i="0" noProof="0" dirty="0">
                <a:solidFill>
                  <a:srgbClr val="EC6608"/>
                </a:solidFill>
                <a:latin typeface="Segoe UI"/>
              </a:rPr>
              <a:t>/</a:t>
            </a:r>
            <a:r>
              <a:rPr lang="fr-FR" sz="1000" b="0" i="0" noProof="0" dirty="0" err="1">
                <a:solidFill>
                  <a:srgbClr val="EC6608"/>
                </a:solidFill>
                <a:latin typeface="Segoe UI"/>
              </a:rPr>
              <a:t>prepare</a:t>
            </a:r>
            <a:r>
              <a:rPr lang="fr-FR" sz="1000" b="0" i="0" noProof="0" dirty="0">
                <a:solidFill>
                  <a:srgbClr val="EC6608"/>
                </a:solidFill>
                <a:latin typeface="Segoe UI"/>
              </a:rPr>
              <a:t>-release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 → merge + </a:t>
            </a:r>
            <a:r>
              <a:rPr lang="fr-FR" sz="1000" b="0" i="0" noProof="0" dirty="0" err="1">
                <a:solidFill>
                  <a:srgbClr val="333333"/>
                </a:solidFill>
                <a:latin typeface="Segoe UI"/>
              </a:rPr>
              <a:t>reword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 + notes → </a:t>
            </a:r>
            <a:r>
              <a:rPr lang="fr-FR" sz="1000" b="0" i="0" noProof="0" dirty="0" err="1">
                <a:solidFill>
                  <a:srgbClr val="EC6608"/>
                </a:solidFill>
                <a:latin typeface="Segoe UI"/>
              </a:rPr>
              <a:t>brel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 → tag </a:t>
            </a:r>
            <a:r>
              <a:rPr lang="fr-FR" sz="1000" b="0" i="0" noProof="0" dirty="0" err="1">
                <a:solidFill>
                  <a:srgbClr val="333333"/>
                </a:solidFill>
                <a:latin typeface="Segoe UI"/>
              </a:rPr>
              <a:t>vX.Y.Z</a:t>
            </a:r>
            <a:endParaRPr lang="fr-FR" sz="1000" b="0" i="0" noProof="0" dirty="0">
              <a:solidFill>
                <a:srgbClr val="333333"/>
              </a:solidFill>
              <a:latin typeface="Segoe U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6238" y="4543425"/>
            <a:ext cx="11239219" cy="28575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1" i="0" noProof="0" dirty="0" err="1">
                <a:solidFill>
                  <a:srgbClr val="EC6608"/>
                </a:solidFill>
                <a:latin typeface="Segoe UI"/>
              </a:rPr>
              <a:t>pw</a:t>
            </a:r>
            <a:r>
              <a:rPr lang="fr-FR" sz="1050" b="1" i="0" noProof="0" dirty="0">
                <a:solidFill>
                  <a:srgbClr val="EC6608"/>
                </a:solidFill>
                <a:latin typeface="Segoe UI"/>
              </a:rPr>
              <a:t> </a:t>
            </a:r>
            <a:r>
              <a:rPr lang="fr-FR" sz="1050" b="1" i="0" noProof="0" dirty="0" err="1">
                <a:solidFill>
                  <a:srgbClr val="EC6608"/>
                </a:solidFill>
                <a:latin typeface="Segoe UI"/>
              </a:rPr>
              <a:t>skill</a:t>
            </a: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 enchaîne automatiquement les phases documentaires   ·   </a:t>
            </a:r>
            <a:r>
              <a:rPr lang="fr-FR" sz="1050" b="1" i="0" noProof="0" dirty="0" err="1">
                <a:solidFill>
                  <a:srgbClr val="EC6608"/>
                </a:solidFill>
                <a:latin typeface="Segoe UI"/>
              </a:rPr>
              <a:t>pw</a:t>
            </a:r>
            <a:r>
              <a:rPr lang="fr-FR" sz="1050" b="1" i="0" noProof="0" dirty="0">
                <a:solidFill>
                  <a:srgbClr val="EC6608"/>
                </a:solidFill>
                <a:latin typeface="Segoe UI"/>
              </a:rPr>
              <a:t> </a:t>
            </a:r>
            <a:r>
              <a:rPr lang="fr-FR" sz="1050" b="1" i="0" noProof="0" dirty="0" err="1">
                <a:solidFill>
                  <a:srgbClr val="EC6608"/>
                </a:solidFill>
                <a:latin typeface="Segoe UI"/>
              </a:rPr>
              <a:t>handoff</a:t>
            </a: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 enchaîne les étapes d'implémentation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0990" y="6667500"/>
            <a:ext cx="4762380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 err="1">
                <a:solidFill>
                  <a:srgbClr val="AAAAAA"/>
                </a:solidFill>
                <a:latin typeface="Segoe UI"/>
              </a:rPr>
              <a:t>llm-shared</a:t>
            </a: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 - Vue d'ensemble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3476" y="6667500"/>
            <a:ext cx="857228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0990" y="114300"/>
            <a:ext cx="4762380" cy="3810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Organization</a:t>
            </a: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 </a:t>
            </a: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name</a:t>
            </a:r>
            <a:endParaRPr lang="fr-FR" sz="1300" b="1" i="0" noProof="0" dirty="0">
              <a:solidFill>
                <a:srgbClr val="00566F"/>
              </a:solidFill>
              <a:latin typeface="Segoe U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00" b="0" i="0" noProof="0" dirty="0">
                <a:solidFill>
                  <a:srgbClr val="717E86"/>
                </a:solidFill>
                <a:latin typeface="Segoe UI"/>
              </a:rPr>
              <a:t>ORGANIZATION SUBTITLE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29314" y="190500"/>
            <a:ext cx="4381390" cy="1905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717E86"/>
                </a:solidFill>
                <a:latin typeface="Segoe UI"/>
              </a:rPr>
              <a:t>5. Phase documentaire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52450"/>
            <a:ext cx="7315017" cy="47625"/>
          </a:xfrm>
          <a:prstGeom prst="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Rectangle 4"/>
          <p:cNvSpPr/>
          <p:nvPr/>
        </p:nvSpPr>
        <p:spPr>
          <a:xfrm>
            <a:off x="7315017" y="552450"/>
            <a:ext cx="4876678" cy="47625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476238" y="685800"/>
            <a:ext cx="11239219" cy="4191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100" b="1" i="0" noProof="0" dirty="0">
                <a:solidFill>
                  <a:srgbClr val="00566F"/>
                </a:solidFill>
                <a:latin typeface="Segoe UI"/>
              </a:rPr>
              <a:t>Phase documentaire : automatisée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238" y="1104900"/>
            <a:ext cx="11239219" cy="2667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 noProof="0" dirty="0" err="1">
                <a:solidFill>
                  <a:srgbClr val="717E86"/>
                </a:solidFill>
                <a:latin typeface="Segoe UI"/>
              </a:rPr>
              <a:t>pw</a:t>
            </a: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 </a:t>
            </a:r>
            <a:r>
              <a:rPr lang="fr-FR" sz="1050" b="0" i="0" noProof="0" dirty="0" err="1">
                <a:solidFill>
                  <a:srgbClr val="717E86"/>
                </a:solidFill>
                <a:latin typeface="Segoe UI"/>
              </a:rPr>
              <a:t>skill</a:t>
            </a: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 enchaîne les phases sans menu ni intervention humaine (sauf revue)</a:t>
            </a:r>
          </a:p>
        </p:txBody>
      </p:sp>
      <p:sp>
        <p:nvSpPr>
          <p:cNvPr id="8" name="Oval 7"/>
          <p:cNvSpPr/>
          <p:nvPr/>
        </p:nvSpPr>
        <p:spPr>
          <a:xfrm>
            <a:off x="476238" y="1504950"/>
            <a:ext cx="419089" cy="419100"/>
          </a:xfrm>
          <a:prstGeom prst="ellipse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1" i="0" noProof="0" dirty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7723" y="1504950"/>
            <a:ext cx="8953276" cy="419100"/>
          </a:xfrm>
          <a:prstGeom prst="roundRect">
            <a:avLst/>
          </a:prstGeom>
          <a:solidFill>
            <a:srgbClr val="E6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i="0" noProof="0" dirty="0">
                <a:solidFill>
                  <a:srgbClr val="00566F"/>
                </a:solidFill>
                <a:latin typeface="Segoe UI"/>
              </a:rPr>
              <a:t>/</a:t>
            </a:r>
            <a:r>
              <a:rPr lang="fr-FR" sz="1200" b="1" i="0" noProof="0" dirty="0" err="1">
                <a:solidFill>
                  <a:srgbClr val="00566F"/>
                </a:solidFill>
                <a:latin typeface="Segoe UI"/>
              </a:rPr>
              <a:t>write-requirement</a:t>
            </a:r>
            <a:r>
              <a:rPr lang="fr-FR" sz="1000" b="0" i="0" noProof="0" dirty="0">
                <a:solidFill>
                  <a:srgbClr val="666666"/>
                </a:solidFill>
                <a:latin typeface="Segoe UI"/>
              </a:rPr>
              <a:t>  : écrit le document d'exigence (</a:t>
            </a:r>
            <a:r>
              <a:rPr lang="fr-FR" sz="1000" b="0" i="0" noProof="0" dirty="0" err="1">
                <a:solidFill>
                  <a:srgbClr val="666666"/>
                </a:solidFill>
                <a:latin typeface="Segoe UI"/>
              </a:rPr>
              <a:t>feature-request</a:t>
            </a:r>
            <a:r>
              <a:rPr lang="fr-FR" sz="1000" b="0" i="0" noProof="0" dirty="0">
                <a:solidFill>
                  <a:srgbClr val="666666"/>
                </a:solidFill>
                <a:latin typeface="Segoe UI"/>
              </a:rPr>
              <a:t> ou issue)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39119" y="1504950"/>
            <a:ext cx="1476338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00" b="1" i="0" noProof="0" dirty="0">
                <a:solidFill>
                  <a:srgbClr val="EC6608"/>
                </a:solidFill>
                <a:latin typeface="Segoe UI"/>
              </a:rPr>
              <a:t>== </a:t>
            </a:r>
            <a:r>
              <a:rPr lang="fr-FR" sz="900" b="1" i="0" noProof="0" dirty="0" err="1">
                <a:solidFill>
                  <a:srgbClr val="EC6608"/>
                </a:solidFill>
                <a:latin typeface="Segoe UI"/>
              </a:rPr>
              <a:t>pw</a:t>
            </a:r>
            <a:r>
              <a:rPr lang="fr-FR" sz="900" b="1" i="0" noProof="0" dirty="0">
                <a:solidFill>
                  <a:srgbClr val="EC6608"/>
                </a:solidFill>
                <a:latin typeface="Segoe UI"/>
              </a:rPr>
              <a:t> </a:t>
            </a:r>
            <a:r>
              <a:rPr lang="fr-FR" sz="900" b="1" i="0" noProof="0" dirty="0" err="1">
                <a:solidFill>
                  <a:srgbClr val="EC6608"/>
                </a:solidFill>
                <a:latin typeface="Segoe UI"/>
              </a:rPr>
              <a:t>skill</a:t>
            </a:r>
            <a:r>
              <a:rPr lang="fr-FR" sz="900" b="1" i="0" noProof="0" dirty="0">
                <a:solidFill>
                  <a:srgbClr val="EC6608"/>
                </a:solidFill>
                <a:latin typeface="Segoe UI"/>
              </a:rPr>
              <a:t> ==&gt;</a:t>
            </a:r>
          </a:p>
        </p:txBody>
      </p:sp>
      <p:sp>
        <p:nvSpPr>
          <p:cNvPr id="11" name="Oval 10"/>
          <p:cNvSpPr/>
          <p:nvPr/>
        </p:nvSpPr>
        <p:spPr>
          <a:xfrm>
            <a:off x="476238" y="2133600"/>
            <a:ext cx="419089" cy="419100"/>
          </a:xfrm>
          <a:prstGeom prst="ellipse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1" i="0" noProof="0" dirty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7723" y="2133600"/>
            <a:ext cx="8953276" cy="419100"/>
          </a:xfrm>
          <a:prstGeom prst="roundRect">
            <a:avLst/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i="0" noProof="0" dirty="0">
                <a:solidFill>
                  <a:srgbClr val="EC6608"/>
                </a:solidFill>
                <a:latin typeface="Segoe UI"/>
              </a:rPr>
              <a:t>/</a:t>
            </a:r>
            <a:r>
              <a:rPr lang="fr-FR" sz="1200" b="1" i="0" noProof="0" dirty="0" err="1">
                <a:solidFill>
                  <a:srgbClr val="EC6608"/>
                </a:solidFill>
                <a:latin typeface="Segoe UI"/>
              </a:rPr>
              <a:t>review</a:t>
            </a:r>
            <a:r>
              <a:rPr lang="fr-FR" sz="1200" b="1" i="0" noProof="0" dirty="0">
                <a:solidFill>
                  <a:srgbClr val="EC6608"/>
                </a:solidFill>
                <a:latin typeface="Segoe UI"/>
              </a:rPr>
              <a:t>-</a:t>
            </a:r>
            <a:r>
              <a:rPr lang="fr-FR" sz="1200" b="1" i="0" noProof="0" dirty="0" err="1">
                <a:solidFill>
                  <a:srgbClr val="EC6608"/>
                </a:solidFill>
                <a:latin typeface="Segoe UI"/>
              </a:rPr>
              <a:t>ask</a:t>
            </a:r>
            <a:r>
              <a:rPr lang="fr-FR" sz="1200" b="1" i="0" noProof="0" dirty="0">
                <a:solidFill>
                  <a:srgbClr val="EC6608"/>
                </a:solidFill>
                <a:latin typeface="Segoe UI"/>
              </a:rPr>
              <a:t>-questions</a:t>
            </a:r>
            <a:r>
              <a:rPr lang="fr-FR" sz="1000" b="0" i="0" noProof="0" dirty="0">
                <a:solidFill>
                  <a:srgbClr val="666666"/>
                </a:solidFill>
                <a:latin typeface="Segoe UI"/>
              </a:rPr>
              <a:t>  : l'IA pose des questions ouvertes avec options et recommandations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39119" y="2190750"/>
            <a:ext cx="1476338" cy="304800"/>
          </a:xfrm>
          <a:prstGeom prst="round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00" b="1" i="0" noProof="0" dirty="0">
                <a:solidFill>
                  <a:srgbClr val="FFFFFF"/>
                </a:solidFill>
                <a:latin typeface="Segoe UI"/>
              </a:rPr>
              <a:t>[STOP]</a:t>
            </a:r>
          </a:p>
        </p:txBody>
      </p:sp>
      <p:sp>
        <p:nvSpPr>
          <p:cNvPr id="14" name="Oval 13"/>
          <p:cNvSpPr/>
          <p:nvPr/>
        </p:nvSpPr>
        <p:spPr>
          <a:xfrm>
            <a:off x="476238" y="2762250"/>
            <a:ext cx="419089" cy="419100"/>
          </a:xfrm>
          <a:prstGeom prst="ellipse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1" i="0" noProof="0" dirty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7723" y="2762250"/>
            <a:ext cx="8953276" cy="419100"/>
          </a:xfrm>
          <a:prstGeom prst="roundRect">
            <a:avLst/>
          </a:prstGeom>
          <a:solidFill>
            <a:srgbClr val="E6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i="0" noProof="0" dirty="0">
                <a:solidFill>
                  <a:srgbClr val="00566F"/>
                </a:solidFill>
                <a:latin typeface="Segoe UI"/>
              </a:rPr>
              <a:t>/</a:t>
            </a:r>
            <a:r>
              <a:rPr lang="fr-FR" sz="1200" b="1" i="0" noProof="0" dirty="0" err="1">
                <a:solidFill>
                  <a:srgbClr val="00566F"/>
                </a:solidFill>
                <a:latin typeface="Segoe UI"/>
              </a:rPr>
              <a:t>consolidate</a:t>
            </a:r>
            <a:r>
              <a:rPr lang="fr-FR" sz="1200" b="1" i="0" noProof="0" dirty="0">
                <a:solidFill>
                  <a:srgbClr val="00566F"/>
                </a:solidFill>
                <a:latin typeface="Segoe UI"/>
              </a:rPr>
              <a:t>-</a:t>
            </a:r>
            <a:r>
              <a:rPr lang="fr-FR" sz="1200" b="1" i="0" noProof="0" dirty="0" err="1">
                <a:solidFill>
                  <a:srgbClr val="00566F"/>
                </a:solidFill>
                <a:latin typeface="Segoe UI"/>
              </a:rPr>
              <a:t>then</a:t>
            </a:r>
            <a:r>
              <a:rPr lang="fr-FR" sz="1200" b="1" i="0" noProof="0" dirty="0">
                <a:solidFill>
                  <a:srgbClr val="00566F"/>
                </a:solidFill>
                <a:latin typeface="Segoe UI"/>
              </a:rPr>
              <a:t>-</a:t>
            </a:r>
            <a:r>
              <a:rPr lang="fr-FR" sz="1200" b="1" i="0" noProof="0" dirty="0" err="1">
                <a:solidFill>
                  <a:srgbClr val="00566F"/>
                </a:solidFill>
                <a:latin typeface="Segoe UI"/>
              </a:rPr>
              <a:t>review</a:t>
            </a:r>
            <a:r>
              <a:rPr lang="fr-FR" sz="1200" b="1" i="0" noProof="0" dirty="0">
                <a:solidFill>
                  <a:srgbClr val="00566F"/>
                </a:solidFill>
                <a:latin typeface="Segoe UI"/>
              </a:rPr>
              <a:t>-</a:t>
            </a:r>
            <a:r>
              <a:rPr lang="fr-FR" sz="1200" b="1" i="0" noProof="0" dirty="0" err="1">
                <a:solidFill>
                  <a:srgbClr val="00566F"/>
                </a:solidFill>
                <a:latin typeface="Segoe UI"/>
              </a:rPr>
              <a:t>ask</a:t>
            </a:r>
            <a:r>
              <a:rPr lang="fr-FR" sz="1200" b="1" i="0" noProof="0" dirty="0">
                <a:solidFill>
                  <a:srgbClr val="00566F"/>
                </a:solidFill>
                <a:latin typeface="Segoe UI"/>
              </a:rPr>
              <a:t>-questions</a:t>
            </a:r>
            <a:r>
              <a:rPr lang="fr-FR" sz="1000" b="0" i="0" noProof="0" dirty="0">
                <a:solidFill>
                  <a:srgbClr val="666666"/>
                </a:solidFill>
                <a:latin typeface="Segoe UI"/>
              </a:rPr>
              <a:t>  : plie les réponses dans le document, repose des questions si besoin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39119" y="2762250"/>
            <a:ext cx="1476338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00" b="1" i="0" noProof="0" dirty="0">
                <a:solidFill>
                  <a:srgbClr val="00566F"/>
                </a:solidFill>
                <a:latin typeface="Segoe UI"/>
              </a:rPr>
              <a:t>↻ boucle</a:t>
            </a:r>
          </a:p>
        </p:txBody>
      </p:sp>
      <p:sp>
        <p:nvSpPr>
          <p:cNvPr id="17" name="Oval 16"/>
          <p:cNvSpPr/>
          <p:nvPr/>
        </p:nvSpPr>
        <p:spPr>
          <a:xfrm>
            <a:off x="476238" y="3390900"/>
            <a:ext cx="419089" cy="419100"/>
          </a:xfrm>
          <a:prstGeom prst="ellipse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1" i="0" noProof="0" dirty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7723" y="3390900"/>
            <a:ext cx="8953276" cy="419100"/>
          </a:xfrm>
          <a:prstGeom prst="roundRect">
            <a:avLst/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i="0" noProof="0" dirty="0">
                <a:solidFill>
                  <a:srgbClr val="EC6608"/>
                </a:solidFill>
                <a:latin typeface="Segoe UI"/>
              </a:rPr>
              <a:t>/</a:t>
            </a:r>
            <a:r>
              <a:rPr lang="fr-FR" sz="1200" b="1" i="0" noProof="0" dirty="0" err="1">
                <a:solidFill>
                  <a:srgbClr val="EC6608"/>
                </a:solidFill>
                <a:latin typeface="Segoe UI"/>
              </a:rPr>
              <a:t>write</a:t>
            </a:r>
            <a:r>
              <a:rPr lang="fr-FR" sz="1200" b="1" i="0" noProof="0" dirty="0">
                <a:solidFill>
                  <a:srgbClr val="EC6608"/>
                </a:solidFill>
                <a:latin typeface="Segoe UI"/>
              </a:rPr>
              <a:t>-design</a:t>
            </a:r>
            <a:r>
              <a:rPr lang="fr-FR" sz="1000" b="0" i="0" noProof="0" dirty="0">
                <a:solidFill>
                  <a:srgbClr val="666666"/>
                </a:solidFill>
                <a:latin typeface="Segoe UI"/>
              </a:rPr>
              <a:t>  : scope, contraintes, comportement cible, scénarios d'acceptation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39119" y="3390900"/>
            <a:ext cx="1476338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00" b="1" i="0" noProof="0" dirty="0">
                <a:solidFill>
                  <a:srgbClr val="EC6608"/>
                </a:solidFill>
                <a:latin typeface="Segoe UI"/>
              </a:rPr>
              <a:t>== </a:t>
            </a:r>
            <a:r>
              <a:rPr lang="fr-FR" sz="900" b="1" i="0" noProof="0" dirty="0" err="1">
                <a:solidFill>
                  <a:srgbClr val="EC6608"/>
                </a:solidFill>
                <a:latin typeface="Segoe UI"/>
              </a:rPr>
              <a:t>pw</a:t>
            </a:r>
            <a:r>
              <a:rPr lang="fr-FR" sz="900" b="1" i="0" noProof="0" dirty="0">
                <a:solidFill>
                  <a:srgbClr val="EC6608"/>
                </a:solidFill>
                <a:latin typeface="Segoe UI"/>
              </a:rPr>
              <a:t> </a:t>
            </a:r>
            <a:r>
              <a:rPr lang="fr-FR" sz="900" b="1" i="0" noProof="0" dirty="0" err="1">
                <a:solidFill>
                  <a:srgbClr val="EC6608"/>
                </a:solidFill>
                <a:latin typeface="Segoe UI"/>
              </a:rPr>
              <a:t>skill</a:t>
            </a:r>
            <a:r>
              <a:rPr lang="fr-FR" sz="900" b="1" i="0" noProof="0" dirty="0">
                <a:solidFill>
                  <a:srgbClr val="EC6608"/>
                </a:solidFill>
                <a:latin typeface="Segoe UI"/>
              </a:rPr>
              <a:t> ==&gt;</a:t>
            </a:r>
          </a:p>
        </p:txBody>
      </p:sp>
      <p:sp>
        <p:nvSpPr>
          <p:cNvPr id="20" name="Oval 19"/>
          <p:cNvSpPr/>
          <p:nvPr/>
        </p:nvSpPr>
        <p:spPr>
          <a:xfrm>
            <a:off x="476238" y="4019549"/>
            <a:ext cx="419089" cy="419100"/>
          </a:xfrm>
          <a:prstGeom prst="ellipse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1" i="0" noProof="0" dirty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47723" y="4019549"/>
            <a:ext cx="8953276" cy="419100"/>
          </a:xfrm>
          <a:prstGeom prst="roundRect">
            <a:avLst/>
          </a:prstGeom>
          <a:solidFill>
            <a:srgbClr val="E6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i="0" noProof="0" dirty="0">
                <a:solidFill>
                  <a:srgbClr val="00566F"/>
                </a:solidFill>
                <a:latin typeface="Segoe UI"/>
              </a:rPr>
              <a:t>/</a:t>
            </a:r>
            <a:r>
              <a:rPr lang="fr-FR" sz="1200" b="1" i="0" noProof="0" dirty="0" err="1">
                <a:solidFill>
                  <a:srgbClr val="00566F"/>
                </a:solidFill>
                <a:latin typeface="Segoe UI"/>
              </a:rPr>
              <a:t>write</a:t>
            </a:r>
            <a:r>
              <a:rPr lang="fr-FR" sz="1200" b="1" i="0" noProof="0" dirty="0">
                <a:solidFill>
                  <a:srgbClr val="00566F"/>
                </a:solidFill>
                <a:latin typeface="Segoe UI"/>
              </a:rPr>
              <a:t>-plans</a:t>
            </a:r>
            <a:r>
              <a:rPr lang="fr-FR" sz="1000" b="0" i="0" noProof="0" dirty="0">
                <a:solidFill>
                  <a:srgbClr val="666666"/>
                </a:solidFill>
                <a:latin typeface="Segoe UI"/>
              </a:rPr>
              <a:t>  : plan d'exécution numéroté + plan de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39119" y="4019549"/>
            <a:ext cx="1476338" cy="4191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00" b="1" i="0" noProof="0" dirty="0">
                <a:solidFill>
                  <a:srgbClr val="EC6608"/>
                </a:solidFill>
                <a:latin typeface="Segoe UI"/>
              </a:rPr>
              <a:t>== </a:t>
            </a:r>
            <a:r>
              <a:rPr lang="fr-FR" sz="900" b="1" i="0" noProof="0" dirty="0" err="1">
                <a:solidFill>
                  <a:srgbClr val="EC6608"/>
                </a:solidFill>
                <a:latin typeface="Segoe UI"/>
              </a:rPr>
              <a:t>pw</a:t>
            </a:r>
            <a:r>
              <a:rPr lang="fr-FR" sz="900" b="1" i="0" noProof="0" dirty="0">
                <a:solidFill>
                  <a:srgbClr val="EC6608"/>
                </a:solidFill>
                <a:latin typeface="Segoe UI"/>
              </a:rPr>
              <a:t> </a:t>
            </a:r>
            <a:r>
              <a:rPr lang="fr-FR" sz="900" b="1" i="0" noProof="0" dirty="0" err="1">
                <a:solidFill>
                  <a:srgbClr val="EC6608"/>
                </a:solidFill>
                <a:latin typeface="Segoe UI"/>
              </a:rPr>
              <a:t>skill</a:t>
            </a:r>
            <a:r>
              <a:rPr lang="fr-FR" sz="900" b="1" i="0" noProof="0" dirty="0">
                <a:solidFill>
                  <a:srgbClr val="EC6608"/>
                </a:solidFill>
                <a:latin typeface="Segoe UI"/>
              </a:rPr>
              <a:t> ==&gt;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6238" y="4686300"/>
            <a:ext cx="11239219" cy="419100"/>
          </a:xfrm>
          <a:prstGeom prst="roundRect">
            <a:avLst/>
          </a:prstGeom>
          <a:solidFill>
            <a:srgbClr val="F0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00" b="0" i="0" noProof="0" dirty="0">
                <a:solidFill>
                  <a:srgbClr val="00566F"/>
                </a:solidFill>
                <a:latin typeface="Segoe UI"/>
              </a:rPr>
              <a:t>Le seul arrêt humain : répondre au tableau </a:t>
            </a:r>
            <a:r>
              <a:rPr lang="fr-FR" sz="1100" b="1" i="0" noProof="0" dirty="0">
                <a:solidFill>
                  <a:srgbClr val="00566F"/>
                </a:solidFill>
                <a:latin typeface="Segoe UI"/>
              </a:rPr>
              <a:t>Q0x | Titre | Réponse recommandée</a:t>
            </a:r>
            <a:r>
              <a:rPr lang="fr-FR" sz="1100" b="0" i="0" noProof="0" dirty="0">
                <a:solidFill>
                  <a:srgbClr val="00566F"/>
                </a:solidFill>
                <a:latin typeface="Segoe UI"/>
              </a:rPr>
              <a:t> lors des revues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0990" y="6667500"/>
            <a:ext cx="4762380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 err="1">
                <a:solidFill>
                  <a:srgbClr val="AAAAAA"/>
                </a:solidFill>
                <a:latin typeface="Segoe UI"/>
              </a:rPr>
              <a:t>llm-shared</a:t>
            </a: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 - Phase documentaire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3476" y="6667500"/>
            <a:ext cx="857228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0990" y="114300"/>
            <a:ext cx="4762380" cy="3810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Organization</a:t>
            </a: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 </a:t>
            </a: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name</a:t>
            </a:r>
            <a:endParaRPr lang="fr-FR" sz="1300" b="1" i="0" noProof="0" dirty="0">
              <a:solidFill>
                <a:srgbClr val="00566F"/>
              </a:solidFill>
              <a:latin typeface="Segoe U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00" b="0" i="0" noProof="0" dirty="0">
                <a:solidFill>
                  <a:srgbClr val="717E86"/>
                </a:solidFill>
                <a:latin typeface="Segoe UI"/>
              </a:rPr>
              <a:t>ORGANIZATION SUBTITLE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29314" y="190500"/>
            <a:ext cx="4381390" cy="1905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717E86"/>
                </a:solidFill>
                <a:latin typeface="Segoe UI"/>
              </a:rPr>
              <a:t>6. Implémentation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52450"/>
            <a:ext cx="7315017" cy="47625"/>
          </a:xfrm>
          <a:prstGeom prst="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Rectangle 4"/>
          <p:cNvSpPr/>
          <p:nvPr/>
        </p:nvSpPr>
        <p:spPr>
          <a:xfrm>
            <a:off x="7315017" y="552450"/>
            <a:ext cx="4876678" cy="47625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476238" y="685800"/>
            <a:ext cx="11239219" cy="4191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100" b="1" i="0" noProof="0" dirty="0">
                <a:solidFill>
                  <a:srgbClr val="00566F"/>
                </a:solidFill>
                <a:latin typeface="Segoe UI"/>
              </a:rPr>
              <a:t>Phase d'implémentation : chaîne automatisée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238" y="1104900"/>
            <a:ext cx="11239219" cy="2667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 noProof="0" dirty="0" err="1">
                <a:solidFill>
                  <a:srgbClr val="717E86"/>
                </a:solidFill>
                <a:latin typeface="Segoe UI"/>
              </a:rPr>
              <a:t>pw</a:t>
            </a: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 </a:t>
            </a:r>
            <a:r>
              <a:rPr lang="fr-FR" sz="1050" b="0" i="0" noProof="0" dirty="0" err="1">
                <a:solidFill>
                  <a:srgbClr val="717E86"/>
                </a:solidFill>
                <a:latin typeface="Segoe UI"/>
              </a:rPr>
              <a:t>handoff</a:t>
            </a: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 enchaîne les étapes sans menu ni « go-</a:t>
            </a:r>
            <a:r>
              <a:rPr lang="fr-FR" sz="1050" b="0" i="0" noProof="0" dirty="0" err="1">
                <a:solidFill>
                  <a:srgbClr val="717E86"/>
                </a:solidFill>
                <a:latin typeface="Segoe UI"/>
              </a:rPr>
              <a:t>ahead</a:t>
            </a: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 » entre les cases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6238" y="1504950"/>
            <a:ext cx="11239219" cy="2000250"/>
          </a:xfrm>
          <a:prstGeom prst="roundRect">
            <a:avLst/>
          </a:prstGeom>
          <a:noFill/>
          <a:ln w="19050">
            <a:solidFill>
              <a:srgbClr val="EC66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571485" y="1600200"/>
            <a:ext cx="11048723" cy="20955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00" b="1" i="0" noProof="0" dirty="0">
                <a:solidFill>
                  <a:srgbClr val="EC6608"/>
                </a:solidFill>
                <a:latin typeface="Segoe UI"/>
              </a:rPr>
              <a:t>ZONE AUTOMATISÉE : un seul /</a:t>
            </a:r>
            <a:r>
              <a:rPr lang="fr-FR" sz="1100" b="1" i="0" noProof="0" dirty="0" err="1">
                <a:solidFill>
                  <a:srgbClr val="EC6608"/>
                </a:solidFill>
                <a:latin typeface="Segoe UI"/>
              </a:rPr>
              <a:t>implement-step</a:t>
            </a:r>
            <a:r>
              <a:rPr lang="fr-FR" sz="1100" b="1" i="0" noProof="0" dirty="0">
                <a:solidFill>
                  <a:srgbClr val="EC6608"/>
                </a:solidFill>
                <a:latin typeface="Segoe UI"/>
              </a:rPr>
              <a:t> N déclenche la chaîne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28" y="1952624"/>
            <a:ext cx="4762380" cy="628650"/>
          </a:xfrm>
          <a:prstGeom prst="round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00" b="1" i="0" noProof="0" dirty="0">
                <a:solidFill>
                  <a:srgbClr val="FFFFFF"/>
                </a:solidFill>
                <a:latin typeface="Segoe UI"/>
              </a:rPr>
              <a:t>/</a:t>
            </a:r>
            <a:r>
              <a:rPr lang="fr-FR" sz="1100" b="1" i="0" noProof="0" dirty="0" err="1">
                <a:solidFill>
                  <a:srgbClr val="FFFFFF"/>
                </a:solidFill>
                <a:latin typeface="Segoe UI"/>
              </a:rPr>
              <a:t>implement-step</a:t>
            </a:r>
            <a:r>
              <a:rPr lang="fr-FR" sz="1100" b="1" i="0" noProof="0" dirty="0">
                <a:solidFill>
                  <a:srgbClr val="FFFFFF"/>
                </a:solidFill>
                <a:latin typeface="Segoe UI"/>
              </a:rPr>
              <a:t> 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C4D8DE"/>
                </a:solidFill>
                <a:latin typeface="Segoe UI"/>
              </a:rPr>
              <a:t>Code + tests · </a:t>
            </a:r>
            <a:r>
              <a:rPr lang="fr-FR" sz="850" b="0" i="0" noProof="0" dirty="0" err="1">
                <a:solidFill>
                  <a:srgbClr val="C4D8DE"/>
                </a:solidFill>
                <a:latin typeface="Segoe UI"/>
              </a:rPr>
              <a:t>ghog</a:t>
            </a:r>
            <a:r>
              <a:rPr lang="fr-FR" sz="850" b="0" i="0" noProof="0" dirty="0">
                <a:solidFill>
                  <a:srgbClr val="C4D8DE"/>
                </a:solidFill>
                <a:latin typeface="Segoe UI"/>
              </a:rPr>
              <a:t> </a:t>
            </a:r>
            <a:r>
              <a:rPr lang="fr-FR" sz="850" b="0" i="0" noProof="0" dirty="0" err="1">
                <a:solidFill>
                  <a:srgbClr val="C4D8DE"/>
                </a:solidFill>
                <a:latin typeface="Segoe UI"/>
              </a:rPr>
              <a:t>day</a:t>
            </a:r>
            <a:r>
              <a:rPr lang="fr-FR" sz="850" b="0" i="0" noProof="0" dirty="0">
                <a:solidFill>
                  <a:srgbClr val="C4D8DE"/>
                </a:solidFill>
                <a:latin typeface="Segoe UI"/>
              </a:rPr>
              <a:t> vert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7233" y="2143125"/>
            <a:ext cx="857228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0" i="0" noProof="0" dirty="0">
                <a:solidFill>
                  <a:srgbClr val="717E86"/>
                </a:solidFill>
                <a:latin typeface="Segoe UI"/>
              </a:rPr>
              <a:t>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72085" y="1952624"/>
            <a:ext cx="4762380" cy="628650"/>
          </a:xfrm>
          <a:prstGeom prst="round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00" b="1" i="0" noProof="0" dirty="0">
                <a:solidFill>
                  <a:srgbClr val="FFFFFF"/>
                </a:solidFill>
                <a:latin typeface="Segoe UI"/>
              </a:rPr>
              <a:t>/</a:t>
            </a:r>
            <a:r>
              <a:rPr lang="fr-FR" sz="1100" b="1" i="0" noProof="0" dirty="0" err="1">
                <a:solidFill>
                  <a:srgbClr val="FFFFFF"/>
                </a:solidFill>
                <a:latin typeface="Segoe UI"/>
              </a:rPr>
              <a:t>implementation</a:t>
            </a:r>
            <a:r>
              <a:rPr lang="fr-FR" sz="1100" b="1" i="0" noProof="0" dirty="0">
                <a:solidFill>
                  <a:srgbClr val="FFFFFF"/>
                </a:solidFill>
                <a:latin typeface="Segoe UI"/>
              </a:rPr>
              <a:t>-check 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FFF3E6"/>
                </a:solidFill>
                <a:latin typeface="Segoe UI"/>
              </a:rPr>
              <a:t>Verdict Oui/Non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28" y="2714625"/>
            <a:ext cx="4762380" cy="628650"/>
          </a:xfrm>
          <a:prstGeom prst="roundRect">
            <a:avLst/>
          </a:prstGeom>
          <a:solidFill>
            <a:srgbClr val="717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1" i="0" noProof="0" dirty="0">
                <a:solidFill>
                  <a:srgbClr val="FFFFFF"/>
                </a:solidFill>
                <a:latin typeface="Segoe UI"/>
              </a:rPr>
              <a:t>↻ Non → /</a:t>
            </a:r>
            <a:r>
              <a:rPr lang="fr-FR" sz="1050" b="1" i="0" noProof="0" dirty="0" err="1">
                <a:solidFill>
                  <a:srgbClr val="FFFFFF"/>
                </a:solidFill>
                <a:latin typeface="Segoe UI"/>
              </a:rPr>
              <a:t>implement-missing-step</a:t>
            </a:r>
            <a:endParaRPr lang="fr-FR" sz="1050" b="1" i="0" noProof="0" dirty="0">
              <a:solidFill>
                <a:srgbClr val="FFFFFF"/>
              </a:solidFill>
              <a:latin typeface="Segoe UI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FFFFFF"/>
                </a:solidFill>
                <a:latin typeface="Segoe UI"/>
              </a:rPr>
              <a:t>Combler les écarts, </a:t>
            </a:r>
            <a:r>
              <a:rPr lang="fr-FR" sz="850" b="0" i="0" noProof="0" dirty="0" err="1">
                <a:solidFill>
                  <a:srgbClr val="FFFFFF"/>
                </a:solidFill>
                <a:latin typeface="Segoe UI"/>
              </a:rPr>
              <a:t>ghog</a:t>
            </a:r>
            <a:r>
              <a:rPr lang="fr-FR" sz="850" b="0" i="0" noProof="0" dirty="0">
                <a:solidFill>
                  <a:srgbClr val="FFFFFF"/>
                </a:solidFill>
                <a:latin typeface="Segoe UI"/>
              </a:rPr>
              <a:t> </a:t>
            </a:r>
            <a:r>
              <a:rPr lang="fr-FR" sz="850" b="0" i="0" noProof="0" dirty="0" err="1">
                <a:solidFill>
                  <a:srgbClr val="FFFFFF"/>
                </a:solidFill>
                <a:latin typeface="Segoe UI"/>
              </a:rPr>
              <a:t>day</a:t>
            </a:r>
            <a:r>
              <a:rPr lang="fr-FR" sz="850" b="0" i="0" noProof="0" dirty="0">
                <a:solidFill>
                  <a:srgbClr val="FFFFFF"/>
                </a:solidFill>
                <a:latin typeface="Segoe UI"/>
              </a:rPr>
              <a:t>, re-check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7233" y="2905125"/>
            <a:ext cx="857228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0" i="0" noProof="0" dirty="0">
                <a:solidFill>
                  <a:srgbClr val="717E86"/>
                </a:solidFill>
                <a:latin typeface="Segoe UI"/>
              </a:rPr>
              <a:t>ou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72085" y="2714625"/>
            <a:ext cx="4762380" cy="628650"/>
          </a:xfrm>
          <a:prstGeom prst="roundRect">
            <a:avLst/>
          </a:prstGeom>
          <a:solidFill>
            <a:srgbClr val="006D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1" i="0" noProof="0" dirty="0">
                <a:solidFill>
                  <a:srgbClr val="FFFFFF"/>
                </a:solidFill>
                <a:latin typeface="Segoe UI"/>
              </a:rPr>
              <a:t>✓ Oui → /group-commits-msg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FFFFFF"/>
                </a:solidFill>
                <a:latin typeface="Segoe UI"/>
              </a:rPr>
              <a:t>Messages de commit groupés → </a:t>
            </a:r>
            <a:r>
              <a:rPr lang="fr-FR" sz="850" b="0" i="0" noProof="0" dirty="0" err="1">
                <a:solidFill>
                  <a:srgbClr val="FFFFFF"/>
                </a:solidFill>
                <a:latin typeface="Segoe UI"/>
              </a:rPr>
              <a:t>a.commit</a:t>
            </a:r>
            <a:endParaRPr lang="fr-FR" sz="850" b="0" i="0" noProof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76238" y="3695700"/>
            <a:ext cx="3619409" cy="1047749"/>
          </a:xfrm>
          <a:prstGeom prst="roundRect">
            <a:avLst/>
          </a:prstGeom>
          <a:solidFill>
            <a:srgbClr val="F0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Rectangle 16"/>
          <p:cNvSpPr/>
          <p:nvPr/>
        </p:nvSpPr>
        <p:spPr>
          <a:xfrm>
            <a:off x="476238" y="3695700"/>
            <a:ext cx="57148" cy="1047749"/>
          </a:xfrm>
          <a:prstGeom prst="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628634" y="3810000"/>
            <a:ext cx="3371765" cy="8572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fr-FR" sz="1150" b="1" i="0" noProof="0" dirty="0">
                <a:solidFill>
                  <a:srgbClr val="00566F"/>
                </a:solidFill>
                <a:latin typeface="Segoe UI"/>
              </a:rPr>
              <a:t>🧪 Tests seuils d'abord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Le plan commence par des tests qui échouent volontairement. Les étapes suivantes les font passer un par un.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6142" y="3695700"/>
            <a:ext cx="3619409" cy="1047749"/>
          </a:xfrm>
          <a:prstGeom prst="roundRect">
            <a:avLst/>
          </a:prstGeom>
          <a:solidFill>
            <a:srgbClr val="F0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0" name="Rectangle 19"/>
          <p:cNvSpPr/>
          <p:nvPr/>
        </p:nvSpPr>
        <p:spPr>
          <a:xfrm>
            <a:off x="4286142" y="3695700"/>
            <a:ext cx="57148" cy="1047749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4438539" y="3810000"/>
            <a:ext cx="3371765" cy="8572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fr-FR" sz="1150" b="1" i="0" noProof="0" dirty="0">
                <a:solidFill>
                  <a:srgbClr val="00566F"/>
                </a:solidFill>
                <a:latin typeface="Segoe UI"/>
              </a:rPr>
              <a:t>📦 Commits groupés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L'IA lit le diff, groupe les fichiers du moins dépendant au plus dépendant, écrit un message par groupe.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6047" y="3695700"/>
            <a:ext cx="3619409" cy="1047749"/>
          </a:xfrm>
          <a:prstGeom prst="roundRect">
            <a:avLst/>
          </a:prstGeom>
          <a:solidFill>
            <a:srgbClr val="F0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3" name="Rectangle 22"/>
          <p:cNvSpPr/>
          <p:nvPr/>
        </p:nvSpPr>
        <p:spPr>
          <a:xfrm>
            <a:off x="8096047" y="3695700"/>
            <a:ext cx="57148" cy="1047749"/>
          </a:xfrm>
          <a:prstGeom prst="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4" name="TextBox 23"/>
          <p:cNvSpPr txBox="1"/>
          <p:nvPr/>
        </p:nvSpPr>
        <p:spPr>
          <a:xfrm>
            <a:off x="8248443" y="3810000"/>
            <a:ext cx="3371765" cy="8572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fr-FR" sz="1150" b="1" i="0" noProof="0" dirty="0">
                <a:solidFill>
                  <a:srgbClr val="00566F"/>
                </a:solidFill>
                <a:latin typeface="Segoe UI"/>
              </a:rPr>
              <a:t>🛑 Portail de commit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La chaîne s'arrête à </a:t>
            </a:r>
            <a:r>
              <a:rPr lang="fr-FR" sz="950" b="0" i="0" noProof="0" dirty="0" err="1">
                <a:solidFill>
                  <a:srgbClr val="666666"/>
                </a:solidFill>
                <a:latin typeface="Segoe UI"/>
              </a:rPr>
              <a:t>a.commit</a:t>
            </a: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. L'auteur révise, dit « go </a:t>
            </a:r>
            <a:r>
              <a:rPr lang="fr-FR" sz="950" b="0" i="0" noProof="0" dirty="0" err="1">
                <a:solidFill>
                  <a:srgbClr val="666666"/>
                </a:solidFill>
                <a:latin typeface="Segoe UI"/>
              </a:rPr>
              <a:t>ahead</a:t>
            </a: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 », puis </a:t>
            </a:r>
            <a:r>
              <a:rPr lang="fr-FR" sz="950" b="0" i="0" noProof="0" dirty="0" err="1">
                <a:solidFill>
                  <a:srgbClr val="666666"/>
                </a:solidFill>
                <a:latin typeface="Segoe UI"/>
              </a:rPr>
              <a:t>gcba</a:t>
            </a: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 rejoue les commits.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0990" y="6667500"/>
            <a:ext cx="4762380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 err="1">
                <a:solidFill>
                  <a:srgbClr val="AAAAAA"/>
                </a:solidFill>
                <a:latin typeface="Segoe UI"/>
              </a:rPr>
              <a:t>llm-shared</a:t>
            </a: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 - Implémentation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3476" y="6667500"/>
            <a:ext cx="857228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0990" y="114300"/>
            <a:ext cx="4762380" cy="3810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Organization</a:t>
            </a: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 </a:t>
            </a: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name</a:t>
            </a:r>
            <a:endParaRPr lang="fr-FR" sz="1300" b="1" i="0" noProof="0" dirty="0">
              <a:solidFill>
                <a:srgbClr val="00566F"/>
              </a:solidFill>
              <a:latin typeface="Segoe U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00" b="0" i="0" noProof="0" dirty="0">
                <a:solidFill>
                  <a:srgbClr val="717E86"/>
                </a:solidFill>
                <a:latin typeface="Segoe UI"/>
              </a:rPr>
              <a:t>ORGANIZATION SUBTITLE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29314" y="190500"/>
            <a:ext cx="4381390" cy="1905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717E86"/>
                </a:solidFill>
                <a:latin typeface="Segoe UI"/>
              </a:rPr>
              <a:t>7. </a:t>
            </a:r>
            <a:r>
              <a:rPr lang="fr-FR" sz="850" b="0" i="0" noProof="0" dirty="0" err="1">
                <a:solidFill>
                  <a:srgbClr val="717E86"/>
                </a:solidFill>
                <a:latin typeface="Segoe UI"/>
              </a:rPr>
              <a:t>Groundhog</a:t>
            </a:r>
            <a:endParaRPr lang="fr-FR" sz="850" b="0" i="0" noProof="0" dirty="0">
              <a:solidFill>
                <a:srgbClr val="717E86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552450"/>
            <a:ext cx="7315017" cy="47625"/>
          </a:xfrm>
          <a:prstGeom prst="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Rectangle 4"/>
          <p:cNvSpPr/>
          <p:nvPr/>
        </p:nvSpPr>
        <p:spPr>
          <a:xfrm>
            <a:off x="7315017" y="552450"/>
            <a:ext cx="4876678" cy="47625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476238" y="685800"/>
            <a:ext cx="11239219" cy="4191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100" b="1" i="0" noProof="0" dirty="0" err="1">
                <a:solidFill>
                  <a:srgbClr val="00566F"/>
                </a:solidFill>
                <a:latin typeface="Segoe UI"/>
              </a:rPr>
              <a:t>Groundhog</a:t>
            </a:r>
            <a:r>
              <a:rPr lang="fr-FR" sz="2100" b="1" i="0" noProof="0" dirty="0">
                <a:solidFill>
                  <a:srgbClr val="00566F"/>
                </a:solidFill>
                <a:latin typeface="Segoe UI"/>
              </a:rPr>
              <a:t> : la boucle de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238" y="1104900"/>
            <a:ext cx="11239219" cy="2667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Un seul outil remplace les anciens alias : </a:t>
            </a:r>
            <a:r>
              <a:rPr lang="fr-FR" sz="1050" b="0" i="0" noProof="0" dirty="0" err="1">
                <a:solidFill>
                  <a:srgbClr val="717E86"/>
                </a:solidFill>
                <a:latin typeface="Segoe UI"/>
              </a:rPr>
              <a:t>ghog</a:t>
            </a: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 </a:t>
            </a:r>
            <a:r>
              <a:rPr lang="fr-FR" sz="1050" b="0" i="0" noProof="0" dirty="0" err="1">
                <a:solidFill>
                  <a:srgbClr val="717E86"/>
                </a:solidFill>
                <a:latin typeface="Segoe UI"/>
              </a:rPr>
              <a:t>day</a:t>
            </a: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 marche la chaîne et s'arrête au premier problème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43371" y="1504950"/>
            <a:ext cx="1904952" cy="381000"/>
          </a:xfrm>
          <a:prstGeom prst="round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1" i="0" noProof="0" dirty="0" err="1">
                <a:solidFill>
                  <a:srgbClr val="FFFFFF"/>
                </a:solidFill>
                <a:latin typeface="Segoe UI"/>
              </a:rPr>
              <a:t>ghog</a:t>
            </a:r>
            <a:r>
              <a:rPr lang="fr-FR" sz="1300" b="1" i="0" noProof="0" dirty="0">
                <a:solidFill>
                  <a:srgbClr val="FFFFFF"/>
                </a:solidFill>
                <a:latin typeface="Segoe UI"/>
              </a:rPr>
              <a:t> </a:t>
            </a:r>
            <a:r>
              <a:rPr lang="fr-FR" sz="1300" b="1" i="0" noProof="0" dirty="0" err="1">
                <a:solidFill>
                  <a:srgbClr val="FFFFFF"/>
                </a:solidFill>
                <a:latin typeface="Segoe UI"/>
              </a:rPr>
              <a:t>day</a:t>
            </a:r>
            <a:endParaRPr lang="fr-FR" sz="1300" b="1" i="0" noProof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000599" y="1905000"/>
            <a:ext cx="19049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0" i="0" noProof="0" dirty="0">
                <a:solidFill>
                  <a:srgbClr val="717E86"/>
                </a:solidFill>
                <a:latin typeface="Segoe UI"/>
              </a:rPr>
              <a:t>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1685" y="2171700"/>
            <a:ext cx="2095447" cy="590550"/>
          </a:xfrm>
          <a:prstGeom prst="roundRect">
            <a:avLst/>
          </a:prstGeom>
          <a:solidFill>
            <a:srgbClr val="E6F0F3"/>
          </a:solidFill>
          <a:ln w="19050">
            <a:solidFill>
              <a:srgbClr val="005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fr-FR" sz="1200" b="1" i="0" noProof="0" dirty="0">
                <a:solidFill>
                  <a:srgbClr val="00566F"/>
                </a:solidFill>
                <a:latin typeface="Segoe UI"/>
              </a:rPr>
              <a:t>1. check.bat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00" b="0" i="0" noProof="0" dirty="0">
                <a:solidFill>
                  <a:srgbClr val="666666"/>
                </a:solidFill>
                <a:latin typeface="Segoe UI"/>
              </a:rPr>
              <a:t>Compilation + </a:t>
            </a:r>
            <a:r>
              <a:rPr lang="fr-FR" sz="900" b="0" i="0" noProof="0" dirty="0" err="1">
                <a:solidFill>
                  <a:srgbClr val="666666"/>
                </a:solidFill>
                <a:latin typeface="Segoe UI"/>
              </a:rPr>
              <a:t>lint</a:t>
            </a:r>
            <a:endParaRPr lang="fr-FR" sz="900" b="0" i="0" noProof="0" dirty="0">
              <a:solidFill>
                <a:srgbClr val="666666"/>
              </a:solidFill>
              <a:latin typeface="Segoe U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67133" y="2333625"/>
            <a:ext cx="380990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0" i="0" noProof="0" dirty="0">
                <a:solidFill>
                  <a:srgbClr val="717E86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48123" y="2171700"/>
            <a:ext cx="2095447" cy="590550"/>
          </a:xfrm>
          <a:prstGeom prst="roundRect">
            <a:avLst/>
          </a:prstGeom>
          <a:solidFill>
            <a:srgbClr val="FFF3E6"/>
          </a:solidFill>
          <a:ln w="19050">
            <a:solidFill>
              <a:srgbClr val="EC66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fr-FR" sz="1200" b="1" i="0" noProof="0" dirty="0">
                <a:solidFill>
                  <a:srgbClr val="EC6608"/>
                </a:solidFill>
                <a:latin typeface="Segoe UI"/>
              </a:rPr>
              <a:t>2. Tests affectés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00" b="0" i="0" noProof="0" dirty="0">
                <a:solidFill>
                  <a:srgbClr val="666666"/>
                </a:solidFill>
                <a:latin typeface="Segoe UI"/>
              </a:rPr>
              <a:t>Rapide, sans couverture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3571" y="2333625"/>
            <a:ext cx="380990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0" i="0" noProof="0" dirty="0">
                <a:solidFill>
                  <a:srgbClr val="717E86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24561" y="2171700"/>
            <a:ext cx="2095447" cy="590550"/>
          </a:xfrm>
          <a:prstGeom prst="roundRect">
            <a:avLst/>
          </a:prstGeom>
          <a:solidFill>
            <a:srgbClr val="E6F0F3"/>
          </a:solidFill>
          <a:ln w="19050">
            <a:solidFill>
              <a:srgbClr val="005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fr-FR" sz="1200" b="1" i="0" noProof="0" dirty="0">
                <a:solidFill>
                  <a:srgbClr val="00566F"/>
                </a:solidFill>
                <a:latin typeface="Segoe UI"/>
              </a:rPr>
              <a:t>3. Suite complète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00" b="0" i="0" noProof="0" dirty="0">
                <a:solidFill>
                  <a:srgbClr val="666666"/>
                </a:solidFill>
                <a:latin typeface="Segoe UI"/>
              </a:rPr>
              <a:t>Couverture 100% exigée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0599" y="2781300"/>
            <a:ext cx="190495" cy="190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600" b="0" i="0" noProof="0" dirty="0">
                <a:solidFill>
                  <a:srgbClr val="717E86"/>
                </a:solidFill>
                <a:latin typeface="Segoe UI"/>
              </a:rPr>
              <a:t>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52776" y="3028950"/>
            <a:ext cx="4286142" cy="381000"/>
          </a:xfrm>
          <a:prstGeom prst="roundRect">
            <a:avLst/>
          </a:prstGeom>
          <a:solidFill>
            <a:srgbClr val="006D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00" b="1" i="0" noProof="0" dirty="0">
                <a:solidFill>
                  <a:srgbClr val="FFFFFF"/>
                </a:solidFill>
                <a:latin typeface="Segoe UI"/>
              </a:rPr>
              <a:t>✓ Objectif atteint : tests verts + couverture au seuil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6238" y="3733799"/>
            <a:ext cx="3619409" cy="1143000"/>
          </a:xfrm>
          <a:prstGeom prst="roundRect">
            <a:avLst/>
          </a:prstGeom>
          <a:solidFill>
            <a:srgbClr val="F0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Rectangle 17"/>
          <p:cNvSpPr/>
          <p:nvPr/>
        </p:nvSpPr>
        <p:spPr>
          <a:xfrm>
            <a:off x="476238" y="3733799"/>
            <a:ext cx="57148" cy="1143000"/>
          </a:xfrm>
          <a:prstGeom prst="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628634" y="3848099"/>
            <a:ext cx="3371765" cy="9525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fr-FR" sz="1150" b="1" i="0" noProof="0" dirty="0">
                <a:solidFill>
                  <a:srgbClr val="00566F"/>
                </a:solidFill>
                <a:latin typeface="Segoe UI"/>
              </a:rPr>
              <a:t>🔄 Boucle de correction IA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L'IA lit le code de sortie, applique le correctif nommé dans le rapport, relance </a:t>
            </a:r>
            <a:r>
              <a:rPr lang="fr-FR" sz="950" b="0" i="0" noProof="0" dirty="0" err="1">
                <a:solidFill>
                  <a:srgbClr val="666666"/>
                </a:solidFill>
                <a:latin typeface="Segoe UI"/>
              </a:rPr>
              <a:t>ghog</a:t>
            </a: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 </a:t>
            </a:r>
            <a:r>
              <a:rPr lang="fr-FR" sz="950" b="0" i="0" noProof="0" dirty="0" err="1">
                <a:solidFill>
                  <a:srgbClr val="666666"/>
                </a:solidFill>
                <a:latin typeface="Segoe UI"/>
              </a:rPr>
              <a:t>day</a:t>
            </a: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. Arrêt si aucun progrès.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6142" y="3733799"/>
            <a:ext cx="3619409" cy="1143000"/>
          </a:xfrm>
          <a:prstGeom prst="roundRect">
            <a:avLst/>
          </a:prstGeom>
          <a:solidFill>
            <a:srgbClr val="F0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Rectangle 20"/>
          <p:cNvSpPr/>
          <p:nvPr/>
        </p:nvSpPr>
        <p:spPr>
          <a:xfrm>
            <a:off x="4286142" y="3733799"/>
            <a:ext cx="57148" cy="1143000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4438539" y="3848099"/>
            <a:ext cx="3371765" cy="9525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fr-FR" sz="1150" b="1" i="0" noProof="0" dirty="0">
                <a:solidFill>
                  <a:srgbClr val="00566F"/>
                </a:solidFill>
                <a:latin typeface="Segoe UI"/>
              </a:rPr>
              <a:t>📊 Sortie maîtrisée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Petite pour l'IA (logs redirigés, </a:t>
            </a:r>
            <a:r>
              <a:rPr lang="fr-FR" sz="950" b="0" i="0" noProof="0" dirty="0" err="1">
                <a:solidFill>
                  <a:srgbClr val="666666"/>
                </a:solidFill>
                <a:latin typeface="Segoe UI"/>
              </a:rPr>
              <a:t>tail</a:t>
            </a: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 lu). Vivante pour l'humain (barre de progression, rapport final).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6047" y="3733799"/>
            <a:ext cx="3619409" cy="1143000"/>
          </a:xfrm>
          <a:prstGeom prst="roundRect">
            <a:avLst/>
          </a:prstGeom>
          <a:solidFill>
            <a:srgbClr val="F0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4" name="Rectangle 23"/>
          <p:cNvSpPr/>
          <p:nvPr/>
        </p:nvSpPr>
        <p:spPr>
          <a:xfrm>
            <a:off x="8096047" y="3733799"/>
            <a:ext cx="57148" cy="1143000"/>
          </a:xfrm>
          <a:prstGeom prst="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5" name="TextBox 24"/>
          <p:cNvSpPr txBox="1"/>
          <p:nvPr/>
        </p:nvSpPr>
        <p:spPr>
          <a:xfrm>
            <a:off x="8248443" y="3848099"/>
            <a:ext cx="3371765" cy="9525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fr-FR" sz="1150" b="1" i="0" noProof="0" dirty="0">
                <a:solidFill>
                  <a:srgbClr val="00566F"/>
                </a:solidFill>
                <a:latin typeface="Segoe UI"/>
              </a:rPr>
              <a:t>🆔 État de cycle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Contrat fichier </a:t>
            </a:r>
            <a:r>
              <a:rPr lang="fr-FR" sz="950" b="0" i="0" noProof="0" dirty="0" err="1">
                <a:solidFill>
                  <a:srgbClr val="666666"/>
                </a:solidFill>
                <a:latin typeface="Segoe UI"/>
              </a:rPr>
              <a:t>a.ghog.status</a:t>
            </a: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. L'IA ne devine jamais : </a:t>
            </a:r>
            <a:r>
              <a:rPr lang="fr-FR" sz="950" b="0" i="0" noProof="0" dirty="0" err="1">
                <a:solidFill>
                  <a:srgbClr val="666666"/>
                </a:solidFill>
                <a:latin typeface="Segoe UI"/>
              </a:rPr>
              <a:t>ghog</a:t>
            </a: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 </a:t>
            </a:r>
            <a:r>
              <a:rPr lang="fr-FR" sz="950" b="0" i="0" noProof="0" dirty="0" err="1">
                <a:solidFill>
                  <a:srgbClr val="666666"/>
                </a:solidFill>
                <a:latin typeface="Segoe UI"/>
              </a:rPr>
              <a:t>status</a:t>
            </a: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 lit l'état, exit 6 = en cours, 7 = tué.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0990" y="6667500"/>
            <a:ext cx="4762380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 err="1">
                <a:solidFill>
                  <a:srgbClr val="AAAAAA"/>
                </a:solidFill>
                <a:latin typeface="Segoe UI"/>
              </a:rPr>
              <a:t>llm-shared</a:t>
            </a: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 - </a:t>
            </a:r>
            <a:r>
              <a:rPr lang="fr-FR" sz="750" b="0" i="0" noProof="0" dirty="0" err="1">
                <a:solidFill>
                  <a:srgbClr val="AAAAAA"/>
                </a:solidFill>
                <a:latin typeface="Segoe UI"/>
              </a:rPr>
              <a:t>Groundhog</a:t>
            </a:r>
            <a:endParaRPr lang="fr-FR" sz="750" b="0" i="0" noProof="0" dirty="0">
              <a:solidFill>
                <a:srgbClr val="AAAAAA"/>
              </a:solidFill>
              <a:latin typeface="Segoe U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953476" y="6667500"/>
            <a:ext cx="857228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0990" y="114300"/>
            <a:ext cx="4762380" cy="3810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Organization</a:t>
            </a: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 </a:t>
            </a: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name</a:t>
            </a:r>
            <a:endParaRPr lang="fr-FR" sz="1300" b="1" i="0" noProof="0" dirty="0">
              <a:solidFill>
                <a:srgbClr val="00566F"/>
              </a:solidFill>
              <a:latin typeface="Segoe U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00" b="0" i="0" noProof="0" dirty="0">
                <a:solidFill>
                  <a:srgbClr val="717E86"/>
                </a:solidFill>
                <a:latin typeface="Segoe UI"/>
              </a:rPr>
              <a:t>ORGANIZATION SUBTITLE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29314" y="190500"/>
            <a:ext cx="4381390" cy="1905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717E86"/>
                </a:solidFill>
                <a:latin typeface="Segoe UI"/>
              </a:rPr>
              <a:t>8. Commits &amp; Release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52450"/>
            <a:ext cx="7315017" cy="47625"/>
          </a:xfrm>
          <a:prstGeom prst="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Rectangle 4"/>
          <p:cNvSpPr/>
          <p:nvPr/>
        </p:nvSpPr>
        <p:spPr>
          <a:xfrm>
            <a:off x="7315017" y="552450"/>
            <a:ext cx="4876678" cy="47625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476238" y="685800"/>
            <a:ext cx="11239219" cy="4191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100" b="1" i="0" noProof="0" dirty="0">
                <a:solidFill>
                  <a:srgbClr val="00566F"/>
                </a:solidFill>
                <a:latin typeface="Segoe UI"/>
              </a:rPr>
              <a:t>Commits conventionnels &amp; préparation de release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238" y="1104900"/>
            <a:ext cx="11239219" cy="2667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Au-delà du changelog : le « pourquoi » pour le prochain lecteur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6238" y="1447800"/>
            <a:ext cx="11239219" cy="533400"/>
          </a:xfrm>
          <a:prstGeom prst="roundRect">
            <a:avLst/>
          </a:prstGeom>
          <a:solidFill>
            <a:srgbClr val="E6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rIns="127000"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00" b="1" i="0" noProof="0" dirty="0">
                <a:solidFill>
                  <a:srgbClr val="EC6608"/>
                </a:solidFill>
                <a:latin typeface="Segoe UI"/>
              </a:rPr>
              <a:t>/group-commits-msg</a:t>
            </a:r>
            <a:r>
              <a:rPr lang="fr-FR" sz="1000" b="0" i="0" noProof="0" dirty="0">
                <a:solidFill>
                  <a:srgbClr val="00566F"/>
                </a:solidFill>
                <a:latin typeface="Segoe UI"/>
              </a:rPr>
              <a:t> : range les fichiers indexés du moins au plus dépendant, écrit un message au format ci-dessous par groupe dans </a:t>
            </a:r>
            <a:r>
              <a:rPr lang="fr-FR" sz="1000" b="0" i="0" noProof="0" dirty="0" err="1">
                <a:solidFill>
                  <a:srgbClr val="00566F"/>
                </a:solidFill>
                <a:latin typeface="Segoe UI"/>
              </a:rPr>
              <a:t>a.commit</a:t>
            </a:r>
            <a:r>
              <a:rPr lang="fr-FR" sz="1000" b="0" i="0" noProof="0" dirty="0">
                <a:solidFill>
                  <a:srgbClr val="00566F"/>
                </a:solidFill>
                <a:latin typeface="Segoe UI"/>
              </a:rPr>
              <a:t>, puis crée un commit par groupe après relecture.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238" y="2133600"/>
            <a:ext cx="5429114" cy="2095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i="0" noProof="0" dirty="0">
                <a:solidFill>
                  <a:srgbClr val="00566F"/>
                </a:solidFill>
                <a:latin typeface="Segoe UI"/>
              </a:rPr>
              <a:t>Format de commit étendu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6238" y="2400300"/>
            <a:ext cx="5429114" cy="2286000"/>
          </a:xfrm>
          <a:prstGeom prst="roundRect">
            <a:avLst/>
          </a:prstGeom>
          <a:solidFill>
            <a:srgbClr val="1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tIns="127000" rtlCol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lang="fr-FR" sz="1000" b="1" i="0" noProof="0" dirty="0">
                <a:solidFill>
                  <a:srgbClr val="EC6608"/>
                </a:solidFill>
                <a:latin typeface="Segoe UI"/>
              </a:rPr>
              <a:t>feat</a:t>
            </a:r>
            <a:r>
              <a:rPr lang="fr-FR" sz="1000" b="0" i="0" noProof="0" dirty="0">
                <a:solidFill>
                  <a:srgbClr val="8EB2BB"/>
                </a:solidFill>
                <a:latin typeface="Segoe UI"/>
              </a:rPr>
              <a:t>(scope): sujet (52 car. max)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fr-FR" sz="1000" b="1" i="0" noProof="0" dirty="0" err="1">
                <a:solidFill>
                  <a:srgbClr val="95C11F"/>
                </a:solidFill>
                <a:latin typeface="Segoe UI"/>
              </a:rPr>
              <a:t>Why</a:t>
            </a:r>
            <a:r>
              <a:rPr lang="fr-FR" sz="1000" b="1" i="0" noProof="0" dirty="0">
                <a:solidFill>
                  <a:srgbClr val="95C11F"/>
                </a:solidFill>
                <a:latin typeface="Segoe UI"/>
              </a:rPr>
              <a:t>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fr-FR" sz="1000" b="0" i="0" noProof="0" dirty="0">
                <a:solidFill>
                  <a:srgbClr val="8EB2BB"/>
                </a:solidFill>
                <a:latin typeface="Segoe UI"/>
              </a:rPr>
              <a:t>Raison du changement (paragraphe 1).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lang="fr-FR" sz="1000" b="0" i="0" noProof="0" dirty="0">
                <a:solidFill>
                  <a:srgbClr val="8EB2BB"/>
                </a:solidFill>
                <a:latin typeface="Segoe UI"/>
              </a:rPr>
              <a:t>État « après » du code (paragraphe 2).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fr-FR" sz="1000" b="1" i="0" noProof="0" dirty="0" err="1">
                <a:solidFill>
                  <a:srgbClr val="95C11F"/>
                </a:solidFill>
                <a:latin typeface="Segoe UI"/>
              </a:rPr>
              <a:t>What</a:t>
            </a:r>
            <a:r>
              <a:rPr lang="fr-FR" sz="1000" b="1" i="0" noProof="0" dirty="0">
                <a:solidFill>
                  <a:srgbClr val="95C11F"/>
                </a:solidFill>
                <a:latin typeface="Segoe UI"/>
              </a:rPr>
              <a:t>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fr-FR" sz="1000" b="0" i="0" noProof="0" dirty="0">
                <a:solidFill>
                  <a:srgbClr val="8EB2BB"/>
                </a:solidFill>
                <a:latin typeface="Segoe UI"/>
              </a:rPr>
              <a:t>- modification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fr-FR" sz="1000" b="0" i="0" noProof="0" dirty="0">
                <a:solidFill>
                  <a:srgbClr val="8EB2BB"/>
                </a:solidFill>
                <a:latin typeface="Segoe UI"/>
              </a:rPr>
              <a:t>- modification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fr-FR" sz="1000" b="0" i="0" noProof="0" dirty="0">
                <a:solidFill>
                  <a:srgbClr val="8EB2BB"/>
                </a:solidFill>
                <a:latin typeface="Segoe UI"/>
              </a:rPr>
              <a:t>- modification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238" y="4743450"/>
            <a:ext cx="5429114" cy="3810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666666"/>
                </a:solidFill>
                <a:latin typeface="Segoe UI"/>
              </a:rPr>
              <a:t>Le titre alimente le changelog. Le corps donne le contexte que le diff ne porte pas : pour l'humain et pour l'IA qui relira plus tard.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342" y="2133600"/>
            <a:ext cx="5429114" cy="2095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i="0" noProof="0" dirty="0">
                <a:solidFill>
                  <a:srgbClr val="00566F"/>
                </a:solidFill>
                <a:latin typeface="Segoe UI"/>
              </a:rPr>
              <a:t>Préparation de release</a:t>
            </a:r>
          </a:p>
        </p:txBody>
      </p:sp>
      <p:sp>
        <p:nvSpPr>
          <p:cNvPr id="13" name="Oval 12"/>
          <p:cNvSpPr/>
          <p:nvPr/>
        </p:nvSpPr>
        <p:spPr>
          <a:xfrm>
            <a:off x="6286342" y="2438400"/>
            <a:ext cx="285742" cy="285750"/>
          </a:xfrm>
          <a:prstGeom prst="ellipse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i="0" noProof="0" dirty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333" y="2438400"/>
            <a:ext cx="5048123" cy="28575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>
                <a:solidFill>
                  <a:srgbClr val="00566F"/>
                </a:solidFill>
                <a:latin typeface="Segoe UI"/>
              </a:rPr>
              <a:t>/</a:t>
            </a:r>
            <a:r>
              <a:rPr lang="fr-FR" sz="1000" b="1" i="0" noProof="0" dirty="0" err="1">
                <a:solidFill>
                  <a:srgbClr val="00566F"/>
                </a:solidFill>
                <a:latin typeface="Segoe UI"/>
              </a:rPr>
              <a:t>prepare</a:t>
            </a:r>
            <a:r>
              <a:rPr lang="fr-FR" sz="1000" b="1" i="0" noProof="0" dirty="0">
                <a:solidFill>
                  <a:srgbClr val="00566F"/>
                </a:solidFill>
                <a:latin typeface="Segoe UI"/>
              </a:rPr>
              <a:t>-release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 : merge, </a:t>
            </a:r>
            <a:r>
              <a:rPr lang="fr-FR" sz="1000" b="0" i="0" noProof="0" dirty="0" err="1">
                <a:solidFill>
                  <a:srgbClr val="333333"/>
                </a:solidFill>
                <a:latin typeface="Segoe UI"/>
              </a:rPr>
              <a:t>reword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, snapshot</a:t>
            </a:r>
          </a:p>
        </p:txBody>
      </p:sp>
      <p:sp>
        <p:nvSpPr>
          <p:cNvPr id="15" name="Oval 14"/>
          <p:cNvSpPr/>
          <p:nvPr/>
        </p:nvSpPr>
        <p:spPr>
          <a:xfrm>
            <a:off x="6286342" y="2819400"/>
            <a:ext cx="285742" cy="285750"/>
          </a:xfrm>
          <a:prstGeom prst="ellipse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i="0" noProof="0" dirty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333" y="2819400"/>
            <a:ext cx="5048123" cy="28575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>
                <a:solidFill>
                  <a:srgbClr val="00566F"/>
                </a:solidFill>
                <a:latin typeface="Segoe UI"/>
              </a:rPr>
              <a:t>/</a:t>
            </a:r>
            <a:r>
              <a:rPr lang="fr-FR" sz="1000" b="1" i="0" noProof="0" dirty="0" err="1">
                <a:solidFill>
                  <a:srgbClr val="00566F"/>
                </a:solidFill>
                <a:latin typeface="Segoe UI"/>
              </a:rPr>
              <a:t>prepare_release_notes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 : titres groupés, résumé, CHANGELOG</a:t>
            </a:r>
          </a:p>
        </p:txBody>
      </p:sp>
      <p:sp>
        <p:nvSpPr>
          <p:cNvPr id="17" name="Oval 16"/>
          <p:cNvSpPr/>
          <p:nvPr/>
        </p:nvSpPr>
        <p:spPr>
          <a:xfrm>
            <a:off x="6286342" y="3200400"/>
            <a:ext cx="285742" cy="285750"/>
          </a:xfrm>
          <a:prstGeom prst="ellipse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i="0" noProof="0" dirty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333" y="3200400"/>
            <a:ext cx="5048123" cy="28575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Choix du titre de release (3 propositions)</a:t>
            </a:r>
          </a:p>
        </p:txBody>
      </p:sp>
      <p:sp>
        <p:nvSpPr>
          <p:cNvPr id="19" name="Oval 18"/>
          <p:cNvSpPr/>
          <p:nvPr/>
        </p:nvSpPr>
        <p:spPr>
          <a:xfrm>
            <a:off x="6286342" y="3581400"/>
            <a:ext cx="285742" cy="285750"/>
          </a:xfrm>
          <a:prstGeom prst="ellipse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i="0" noProof="0" dirty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333" y="3581400"/>
            <a:ext cx="5048123" cy="28575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0" i="0" noProof="0" dirty="0" err="1">
                <a:solidFill>
                  <a:srgbClr val="333333"/>
                </a:solidFill>
                <a:latin typeface="Segoe UI"/>
              </a:rPr>
              <a:t>pyproject.toml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 + </a:t>
            </a:r>
            <a:r>
              <a:rPr lang="fr-FR" sz="1000" b="0" i="0" noProof="0" dirty="0" err="1">
                <a:solidFill>
                  <a:srgbClr val="333333"/>
                </a:solidFill>
                <a:latin typeface="Segoe UI"/>
              </a:rPr>
              <a:t>uv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 </a:t>
            </a:r>
            <a:r>
              <a:rPr lang="fr-FR" sz="1000" b="0" i="0" noProof="0" dirty="0" err="1">
                <a:solidFill>
                  <a:srgbClr val="333333"/>
                </a:solidFill>
                <a:latin typeface="Segoe UI"/>
              </a:rPr>
              <a:t>sync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 → commit </a:t>
            </a:r>
            <a:r>
              <a:rPr lang="fr-FR" sz="1000" b="0" i="0" noProof="0" dirty="0" err="1">
                <a:solidFill>
                  <a:srgbClr val="333333"/>
                </a:solidFill>
                <a:latin typeface="Segoe UI"/>
              </a:rPr>
              <a:t>chore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(release)</a:t>
            </a:r>
          </a:p>
        </p:txBody>
      </p:sp>
      <p:sp>
        <p:nvSpPr>
          <p:cNvPr id="21" name="Oval 20"/>
          <p:cNvSpPr/>
          <p:nvPr/>
        </p:nvSpPr>
        <p:spPr>
          <a:xfrm>
            <a:off x="6286342" y="3962399"/>
            <a:ext cx="285742" cy="285750"/>
          </a:xfrm>
          <a:prstGeom prst="ellipse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i="0" noProof="0" dirty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333" y="3962399"/>
            <a:ext cx="5048123" cy="28575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1" i="0" noProof="0" dirty="0" err="1">
                <a:solidFill>
                  <a:srgbClr val="00566F"/>
                </a:solidFill>
                <a:latin typeface="Segoe UI"/>
              </a:rPr>
              <a:t>brel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 : </a:t>
            </a:r>
            <a:r>
              <a:rPr lang="fr-FR" sz="1000" b="0" i="0" noProof="0" dirty="0" err="1">
                <a:solidFill>
                  <a:srgbClr val="333333"/>
                </a:solidFill>
                <a:latin typeface="Segoe UI"/>
              </a:rPr>
              <a:t>build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 + tag </a:t>
            </a:r>
            <a:r>
              <a:rPr lang="fr-FR" sz="1000" b="0" i="0" noProof="0" dirty="0" err="1">
                <a:solidFill>
                  <a:srgbClr val="333333"/>
                </a:solidFill>
                <a:latin typeface="Segoe UI"/>
              </a:rPr>
              <a:t>vX.Y.Z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 [</a:t>
            </a:r>
            <a:r>
              <a:rPr lang="fr-FR" sz="1000" b="0" i="0" noProof="0" dirty="0" err="1">
                <a:solidFill>
                  <a:srgbClr val="333333"/>
                </a:solidFill>
                <a:latin typeface="Segoe UI"/>
              </a:rPr>
              <a:t>valid</a:t>
            </a:r>
            <a:r>
              <a:rPr lang="fr-FR" sz="1000" b="0" i="0" noProof="0" dirty="0">
                <a:solidFill>
                  <a:srgbClr val="333333"/>
                </a:solidFill>
                <a:latin typeface="Segoe UI"/>
              </a:rPr>
              <a:t>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342" y="4381500"/>
            <a:ext cx="5429114" cy="381000"/>
          </a:xfrm>
          <a:prstGeom prst="roundRect">
            <a:avLst/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00" b="0" i="0" noProof="0" dirty="0">
                <a:solidFill>
                  <a:srgbClr val="EC6608"/>
                </a:solidFill>
                <a:latin typeface="Segoe UI"/>
              </a:rPr>
              <a:t>Le </a:t>
            </a:r>
            <a:r>
              <a:rPr lang="fr-FR" sz="900" b="0" i="0" noProof="0" dirty="0" err="1">
                <a:solidFill>
                  <a:srgbClr val="EC6608"/>
                </a:solidFill>
                <a:latin typeface="Segoe UI"/>
              </a:rPr>
              <a:t>skill</a:t>
            </a:r>
            <a:r>
              <a:rPr lang="fr-FR" sz="900" b="0" i="0" noProof="0" dirty="0">
                <a:solidFill>
                  <a:srgbClr val="EC6608"/>
                </a:solidFill>
                <a:latin typeface="Segoe UI"/>
              </a:rPr>
              <a:t> ne taggue jamais et ne pousse jamais : c'est l'auteur qui décide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0990" y="6667500"/>
            <a:ext cx="4762380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 err="1">
                <a:solidFill>
                  <a:srgbClr val="AAAAAA"/>
                </a:solidFill>
                <a:latin typeface="Segoe UI"/>
              </a:rPr>
              <a:t>llm-shared</a:t>
            </a: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 - Commits &amp; Release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3476" y="6667500"/>
            <a:ext cx="857228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0990" y="114300"/>
            <a:ext cx="4762380" cy="3810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Organization</a:t>
            </a: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 </a:t>
            </a: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name</a:t>
            </a:r>
            <a:endParaRPr lang="fr-FR" sz="1300" b="1" i="0" noProof="0" dirty="0">
              <a:solidFill>
                <a:srgbClr val="00566F"/>
              </a:solidFill>
              <a:latin typeface="Segoe U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00" b="0" i="0" noProof="0" dirty="0">
                <a:solidFill>
                  <a:srgbClr val="717E86"/>
                </a:solidFill>
                <a:latin typeface="Segoe UI"/>
              </a:rPr>
              <a:t>ORGANIZATION SUBTITLE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29314" y="190500"/>
            <a:ext cx="4381390" cy="1905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717E86"/>
                </a:solidFill>
                <a:latin typeface="Segoe UI"/>
              </a:rPr>
              <a:t>Sécurité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52450"/>
            <a:ext cx="7315017" cy="47625"/>
          </a:xfrm>
          <a:prstGeom prst="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Rectangle 4"/>
          <p:cNvSpPr/>
          <p:nvPr/>
        </p:nvSpPr>
        <p:spPr>
          <a:xfrm>
            <a:off x="7315017" y="552450"/>
            <a:ext cx="4876678" cy="47625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476238" y="685800"/>
            <a:ext cx="11239219" cy="4191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100" b="1" i="0" noProof="0" dirty="0">
                <a:solidFill>
                  <a:srgbClr val="00566F"/>
                </a:solidFill>
                <a:latin typeface="Segoe UI"/>
              </a:rPr>
              <a:t>🛡️ Deux garde-fous sécurité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238" y="1104900"/>
            <a:ext cx="11239219" cy="2667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L'IA accélère le code : elle ne dispense pas des contrôles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238" y="1504950"/>
            <a:ext cx="5476738" cy="247649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🔍 Code et dépendances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8719" y="1504950"/>
            <a:ext cx="5476738" cy="247649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00" b="1" i="0" noProof="0" dirty="0">
                <a:solidFill>
                  <a:srgbClr val="EC6608"/>
                </a:solidFill>
                <a:latin typeface="Segoe UI"/>
              </a:rPr>
              <a:t>🔒 Fuites de données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6238" y="1828800"/>
            <a:ext cx="5476738" cy="800100"/>
          </a:xfrm>
          <a:prstGeom prst="roundRect">
            <a:avLst/>
          </a:prstGeom>
          <a:solidFill>
            <a:srgbClr val="E6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609584" y="1905000"/>
            <a:ext cx="5248143" cy="6667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fr-FR" sz="1100" b="1" i="0" noProof="0" dirty="0">
                <a:solidFill>
                  <a:srgbClr val="00566F"/>
                </a:solidFill>
                <a:latin typeface="Segoe UI"/>
              </a:rPr>
              <a:t>⚠️ Risque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 noProof="0" dirty="0">
                <a:solidFill>
                  <a:srgbClr val="333333"/>
                </a:solidFill>
                <a:latin typeface="Segoe UI"/>
              </a:rPr>
              <a:t>L'IA peut produire du code vulnérable et tirer des bibliothèques anciennes ou trouées.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8719" y="1828800"/>
            <a:ext cx="5476738" cy="800100"/>
          </a:xfrm>
          <a:prstGeom prst="roundRect">
            <a:avLst/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6372065" y="1905000"/>
            <a:ext cx="5248143" cy="6667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fr-FR" sz="1100" b="1" i="0" noProof="0" dirty="0">
                <a:solidFill>
                  <a:srgbClr val="EC6608"/>
                </a:solidFill>
                <a:latin typeface="Segoe UI"/>
              </a:rPr>
              <a:t>⚠️ Risque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 noProof="0" dirty="0">
                <a:solidFill>
                  <a:srgbClr val="333333"/>
                </a:solidFill>
                <a:latin typeface="Segoe UI"/>
              </a:rPr>
              <a:t>Un secret ou une donnée métier collé dans un prompt part chez le fournisseur du modèle.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6238" y="2743200"/>
            <a:ext cx="5476738" cy="800100"/>
          </a:xfrm>
          <a:prstGeom prst="roundRect">
            <a:avLst/>
          </a:prstGeom>
          <a:solidFill>
            <a:srgbClr val="E6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609584" y="2819400"/>
            <a:ext cx="5248143" cy="6667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fr-FR" sz="1100" b="1" i="0" noProof="0" dirty="0">
                <a:solidFill>
                  <a:srgbClr val="00566F"/>
                </a:solidFill>
                <a:latin typeface="Segoe UI"/>
              </a:rPr>
              <a:t>✅ Contrôle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 noProof="0" dirty="0">
                <a:solidFill>
                  <a:srgbClr val="333333"/>
                </a:solidFill>
                <a:latin typeface="Segoe UI"/>
              </a:rPr>
              <a:t>Passer chaque livraison au scanner </a:t>
            </a:r>
            <a:r>
              <a:rPr lang="fr-FR" sz="1050" b="1" i="0" noProof="0" dirty="0" err="1">
                <a:solidFill>
                  <a:srgbClr val="333333"/>
                </a:solidFill>
                <a:latin typeface="Segoe UI"/>
              </a:rPr>
              <a:t>SonarQube</a:t>
            </a:r>
            <a:r>
              <a:rPr lang="fr-FR" sz="1050" b="1" i="0" noProof="0" dirty="0">
                <a:solidFill>
                  <a:srgbClr val="333333"/>
                </a:solidFill>
                <a:latin typeface="Segoe UI"/>
              </a:rPr>
              <a:t> ou équivalent</a:t>
            </a:r>
            <a:r>
              <a:rPr lang="fr-FR" sz="1050" b="0" i="0" noProof="0" dirty="0">
                <a:solidFill>
                  <a:srgbClr val="333333"/>
                </a:solidFill>
                <a:latin typeface="Segoe UI"/>
              </a:rPr>
              <a:t> : qualité, failles connues, dépendances.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8719" y="2743200"/>
            <a:ext cx="5476738" cy="800100"/>
          </a:xfrm>
          <a:prstGeom prst="roundRect">
            <a:avLst/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6372065" y="2819400"/>
            <a:ext cx="5248143" cy="6667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fr-FR" sz="1100" b="1" i="0" noProof="0" dirty="0">
                <a:solidFill>
                  <a:srgbClr val="EC6608"/>
                </a:solidFill>
                <a:latin typeface="Segoe UI"/>
              </a:rPr>
              <a:t>🚫 Contrôle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1" i="0" noProof="0" dirty="0">
                <a:solidFill>
                  <a:srgbClr val="333333"/>
                </a:solidFill>
                <a:latin typeface="Segoe UI"/>
              </a:rPr>
              <a:t>Jamais de secrets ni de données réelles dans les prompts</a:t>
            </a:r>
            <a:r>
              <a:rPr lang="fr-FR" sz="1050" b="0" i="0" noProof="0" dirty="0">
                <a:solidFill>
                  <a:srgbClr val="333333"/>
                </a:solidFill>
                <a:latin typeface="Segoe UI"/>
              </a:rPr>
              <a:t> : clés, </a:t>
            </a:r>
            <a:r>
              <a:rPr lang="fr-FR" sz="1050" b="0" i="0" noProof="0" dirty="0" err="1">
                <a:solidFill>
                  <a:srgbClr val="333333"/>
                </a:solidFill>
                <a:latin typeface="Segoe UI"/>
              </a:rPr>
              <a:t>tokens</a:t>
            </a:r>
            <a:r>
              <a:rPr lang="fr-FR" sz="1050" b="0" i="0" noProof="0" dirty="0">
                <a:solidFill>
                  <a:srgbClr val="333333"/>
                </a:solidFill>
                <a:latin typeface="Segoe UI"/>
              </a:rPr>
              <a:t>, données client, extraits de prod.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6238" y="3657600"/>
            <a:ext cx="5476738" cy="952500"/>
          </a:xfrm>
          <a:prstGeom prst="roundRect">
            <a:avLst/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9" name="Rectangle 18"/>
          <p:cNvSpPr/>
          <p:nvPr/>
        </p:nvSpPr>
        <p:spPr>
          <a:xfrm>
            <a:off x="476238" y="3657600"/>
            <a:ext cx="47623" cy="952500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0" name="TextBox 19"/>
          <p:cNvSpPr txBox="1"/>
          <p:nvPr/>
        </p:nvSpPr>
        <p:spPr>
          <a:xfrm>
            <a:off x="609584" y="3733799"/>
            <a:ext cx="5248143" cy="8191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fr-FR" sz="1100" b="1" i="0" noProof="0" dirty="0">
                <a:solidFill>
                  <a:srgbClr val="EC6608"/>
                </a:solidFill>
                <a:latin typeface="Segoe UI"/>
              </a:rPr>
              <a:t>🚦 Porte avant prod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 noProof="0" dirty="0">
                <a:solidFill>
                  <a:srgbClr val="333333"/>
                </a:solidFill>
                <a:latin typeface="Segoe UI"/>
              </a:rPr>
              <a:t>Avant la mise en production : passage </a:t>
            </a:r>
            <a:r>
              <a:rPr lang="en-GB" sz="1050" b="0" i="0" noProof="0" dirty="0">
                <a:solidFill>
                  <a:srgbClr val="333333"/>
                </a:solidFill>
                <a:latin typeface="Segoe UI"/>
              </a:rPr>
              <a:t>SonarQube</a:t>
            </a:r>
            <a:r>
              <a:rPr lang="fr-FR" sz="1050" b="0" i="0" noProof="0" dirty="0">
                <a:solidFill>
                  <a:srgbClr val="333333"/>
                </a:solidFill>
                <a:latin typeface="Segoe UI"/>
              </a:rPr>
              <a:t> + correction des vulnérabilités et des bibliothèques. Pas de « go » tant que ce n'est pas propre.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8719" y="3657600"/>
            <a:ext cx="5476738" cy="952500"/>
          </a:xfrm>
          <a:prstGeom prst="roundRect">
            <a:avLst/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6372065" y="3733799"/>
            <a:ext cx="5248143" cy="8191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fr-FR" sz="1100" b="1" i="0" noProof="0" dirty="0">
                <a:solidFill>
                  <a:srgbClr val="EC6608"/>
                </a:solidFill>
                <a:latin typeface="Segoe UI"/>
              </a:rPr>
              <a:t>🧪 Détail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 noProof="0" dirty="0">
                <a:solidFill>
                  <a:srgbClr val="333333"/>
                </a:solidFill>
                <a:latin typeface="Segoe UI"/>
              </a:rPr>
              <a:t>On décrit le problème et la structure, on ne copie pas la donnée ; jeux d'exemple anonymisés si besoin.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6238" y="4724400"/>
            <a:ext cx="5476738" cy="800100"/>
          </a:xfrm>
          <a:prstGeom prst="roundRect">
            <a:avLst/>
          </a:prstGeom>
          <a:solidFill>
            <a:srgbClr val="E6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4" name="TextBox 23"/>
          <p:cNvSpPr txBox="1"/>
          <p:nvPr/>
        </p:nvSpPr>
        <p:spPr>
          <a:xfrm>
            <a:off x="609584" y="4800600"/>
            <a:ext cx="5248143" cy="6667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fr-FR" sz="1100" b="1" i="0" noProof="0" dirty="0">
                <a:solidFill>
                  <a:srgbClr val="00566F"/>
                </a:solidFill>
                <a:latin typeface="Segoe UI"/>
              </a:rPr>
              <a:t>🔗 Dans le workflow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 noProof="0" dirty="0">
                <a:solidFill>
                  <a:srgbClr val="333333"/>
                </a:solidFill>
                <a:latin typeface="Segoe UI"/>
              </a:rPr>
              <a:t>Après </a:t>
            </a:r>
            <a:r>
              <a:rPr lang="fr-FR" sz="1000" b="0" i="0" noProof="0" dirty="0">
                <a:solidFill>
                  <a:srgbClr val="EC6608"/>
                </a:solidFill>
                <a:latin typeface="Segoe UI"/>
              </a:rPr>
              <a:t>/</a:t>
            </a:r>
            <a:r>
              <a:rPr lang="en-GB" sz="1000" b="0" i="0" noProof="0" dirty="0">
                <a:solidFill>
                  <a:srgbClr val="EC6608"/>
                </a:solidFill>
                <a:latin typeface="Segoe UI"/>
              </a:rPr>
              <a:t>implementation-check</a:t>
            </a:r>
            <a:r>
              <a:rPr lang="fr-FR" sz="1050" b="0" i="0" noProof="0" dirty="0">
                <a:solidFill>
                  <a:srgbClr val="333333"/>
                </a:solidFill>
                <a:latin typeface="Segoe UI"/>
              </a:rPr>
              <a:t> et la boucle </a:t>
            </a:r>
            <a:r>
              <a:rPr lang="en-GB" sz="1000" b="0" i="0" noProof="0" dirty="0">
                <a:solidFill>
                  <a:srgbClr val="EC6608"/>
                </a:solidFill>
                <a:latin typeface="Segoe UI"/>
              </a:rPr>
              <a:t>groundhog</a:t>
            </a:r>
            <a:r>
              <a:rPr lang="fr-FR" sz="1050" b="0" i="0" noProof="0" dirty="0">
                <a:solidFill>
                  <a:srgbClr val="333333"/>
                </a:solidFill>
                <a:latin typeface="Segoe UI"/>
              </a:rPr>
              <a:t>, avant le commit ; le vert </a:t>
            </a:r>
            <a:r>
              <a:rPr lang="en-GB" sz="1050" b="0" i="0" noProof="0" dirty="0">
                <a:solidFill>
                  <a:srgbClr val="333333"/>
                </a:solidFill>
                <a:latin typeface="Segoe UI"/>
              </a:rPr>
              <a:t>SonarQube</a:t>
            </a:r>
            <a:r>
              <a:rPr lang="fr-FR" sz="1050" b="0" i="0" noProof="0" dirty="0">
                <a:solidFill>
                  <a:srgbClr val="333333"/>
                </a:solidFill>
                <a:latin typeface="Segoe UI"/>
              </a:rPr>
              <a:t> devient une condition de merge.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8719" y="4724400"/>
            <a:ext cx="5476738" cy="800100"/>
          </a:xfrm>
          <a:prstGeom prst="roundRect">
            <a:avLst/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6" name="TextBox 25"/>
          <p:cNvSpPr txBox="1"/>
          <p:nvPr/>
        </p:nvSpPr>
        <p:spPr>
          <a:xfrm>
            <a:off x="6372065" y="4800600"/>
            <a:ext cx="5248143" cy="66675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fr-FR" sz="1100" b="1" i="0" noProof="0" dirty="0">
                <a:solidFill>
                  <a:srgbClr val="EC6608"/>
                </a:solidFill>
                <a:latin typeface="Segoe UI"/>
              </a:rPr>
              <a:t>🔗 Dans le workflow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 noProof="0" dirty="0">
                <a:solidFill>
                  <a:srgbClr val="333333"/>
                </a:solidFill>
                <a:latin typeface="Segoe UI"/>
              </a:rPr>
              <a:t>Règle qui vaut à toutes les phases : brouillon, exigence, design, implémentation.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6238" y="5619750"/>
            <a:ext cx="11239219" cy="3810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💡 L'IA génère vite : </a:t>
            </a:r>
            <a:r>
              <a:rPr lang="fr-FR" sz="1050" b="1" i="0" noProof="0" dirty="0" err="1">
                <a:solidFill>
                  <a:srgbClr val="00566F"/>
                </a:solidFill>
                <a:latin typeface="Segoe UI"/>
              </a:rPr>
              <a:t>SonarQube</a:t>
            </a: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 filtre le code avant prod, la règle </a:t>
            </a:r>
            <a:r>
              <a:rPr lang="fr-FR" sz="1050" b="1" i="0" noProof="0" dirty="0">
                <a:solidFill>
                  <a:srgbClr val="EC6608"/>
                </a:solidFill>
                <a:latin typeface="Segoe UI"/>
              </a:rPr>
              <a:t>« jamais de secrets ni de données dans le prompt »</a:t>
            </a: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 filtre ce qui sort.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0990" y="6667500"/>
            <a:ext cx="4762380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 err="1">
                <a:solidFill>
                  <a:srgbClr val="AAAAAA"/>
                </a:solidFill>
                <a:latin typeface="Segoe UI"/>
              </a:rPr>
              <a:t>llm-shared</a:t>
            </a: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 - Sécurité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3476" y="6667500"/>
            <a:ext cx="857228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0990" y="114300"/>
            <a:ext cx="4762380" cy="3810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Organization</a:t>
            </a:r>
            <a:r>
              <a:rPr lang="fr-FR" sz="1300" b="1" i="0" noProof="0" dirty="0">
                <a:solidFill>
                  <a:srgbClr val="00566F"/>
                </a:solidFill>
                <a:latin typeface="Segoe UI"/>
              </a:rPr>
              <a:t> </a:t>
            </a:r>
            <a:r>
              <a:rPr lang="fr-FR" sz="1300" b="1" i="0" noProof="0" dirty="0" err="1">
                <a:solidFill>
                  <a:srgbClr val="00566F"/>
                </a:solidFill>
                <a:latin typeface="Segoe UI"/>
              </a:rPr>
              <a:t>name</a:t>
            </a:r>
            <a:endParaRPr lang="fr-FR" sz="1300" b="1" i="0" noProof="0" dirty="0">
              <a:solidFill>
                <a:srgbClr val="00566F"/>
              </a:solidFill>
              <a:latin typeface="Segoe U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00" b="0" i="0" noProof="0" dirty="0">
                <a:solidFill>
                  <a:srgbClr val="717E86"/>
                </a:solidFill>
                <a:latin typeface="Segoe UI"/>
              </a:rPr>
              <a:t>ORGANIZATION SUBTITLE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29314" y="190500"/>
            <a:ext cx="4381390" cy="1905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850" b="0" i="0" noProof="0" dirty="0">
                <a:solidFill>
                  <a:srgbClr val="717E86"/>
                </a:solidFill>
                <a:latin typeface="Segoe UI"/>
              </a:rPr>
              <a:t>Bénéfices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52450"/>
            <a:ext cx="7315017" cy="47625"/>
          </a:xfrm>
          <a:prstGeom prst="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Rectangle 4"/>
          <p:cNvSpPr/>
          <p:nvPr/>
        </p:nvSpPr>
        <p:spPr>
          <a:xfrm>
            <a:off x="7315017" y="552450"/>
            <a:ext cx="4876678" cy="47625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476238" y="685800"/>
            <a:ext cx="11239219" cy="4191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100" b="1" i="0" noProof="0" dirty="0">
                <a:solidFill>
                  <a:srgbClr val="00566F"/>
                </a:solidFill>
                <a:latin typeface="Segoe UI"/>
              </a:rPr>
              <a:t>Bénéfices pour la DSI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238" y="1104900"/>
            <a:ext cx="11239219" cy="2667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Ce que le </a:t>
            </a:r>
            <a:r>
              <a:rPr lang="fr-FR" sz="1050" b="0" i="0" noProof="0" dirty="0" err="1">
                <a:solidFill>
                  <a:srgbClr val="717E86"/>
                </a:solidFill>
                <a:latin typeface="Segoe UI"/>
              </a:rPr>
              <a:t>framework</a:t>
            </a:r>
            <a:r>
              <a:rPr lang="fr-FR" sz="1050" b="0" i="0" noProof="0" dirty="0">
                <a:solidFill>
                  <a:srgbClr val="717E86"/>
                </a:solidFill>
                <a:latin typeface="Segoe UI"/>
              </a:rPr>
              <a:t> apporte aux équipes et à la qualité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6238" y="1571625"/>
            <a:ext cx="5429114" cy="1143000"/>
          </a:xfrm>
          <a:prstGeom prst="roundRect">
            <a:avLst/>
          </a:prstGeom>
          <a:solidFill>
            <a:srgbClr val="F0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Rectangle 8"/>
          <p:cNvSpPr/>
          <p:nvPr/>
        </p:nvSpPr>
        <p:spPr>
          <a:xfrm>
            <a:off x="476238" y="1571625"/>
            <a:ext cx="57148" cy="1143000"/>
          </a:xfrm>
          <a:prstGeom prst="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28634" y="1685925"/>
            <a:ext cx="5181470" cy="9525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fr-FR" sz="1150" b="1" i="0" noProof="0" dirty="0">
                <a:solidFill>
                  <a:srgbClr val="00566F"/>
                </a:solidFill>
                <a:latin typeface="Segoe UI"/>
              </a:rPr>
              <a:t>📋 Traçabilité complète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Chaque décision est documentée. Le « pourquoi » est explicite, pas à déduire du code. Revu par l'IA avant validation.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6342" y="1571625"/>
            <a:ext cx="5429114" cy="1143000"/>
          </a:xfrm>
          <a:prstGeom prst="roundRect">
            <a:avLst/>
          </a:prstGeom>
          <a:solidFill>
            <a:srgbClr val="F0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Rectangle 11"/>
          <p:cNvSpPr/>
          <p:nvPr/>
        </p:nvSpPr>
        <p:spPr>
          <a:xfrm>
            <a:off x="6286342" y="1571625"/>
            <a:ext cx="57148" cy="1143000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6438739" y="1685925"/>
            <a:ext cx="5181470" cy="9525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fr-FR" sz="1150" b="1" i="0" noProof="0" dirty="0">
                <a:solidFill>
                  <a:srgbClr val="00566F"/>
                </a:solidFill>
                <a:latin typeface="Segoe UI"/>
              </a:rPr>
              <a:t>🤖 Multi-agent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GitHub </a:t>
            </a:r>
            <a:r>
              <a:rPr lang="fr-FR" sz="950" b="0" i="0" noProof="0" dirty="0" err="1">
                <a:solidFill>
                  <a:srgbClr val="666666"/>
                </a:solidFill>
                <a:latin typeface="Segoe UI"/>
              </a:rPr>
              <a:t>Copilot</a:t>
            </a: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, Claude Code, </a:t>
            </a:r>
            <a:r>
              <a:rPr lang="fr-FR" sz="950" b="0" i="0" noProof="0" dirty="0" err="1">
                <a:solidFill>
                  <a:srgbClr val="666666"/>
                </a:solidFill>
                <a:latin typeface="Segoe UI"/>
              </a:rPr>
              <a:t>ChatGPT</a:t>
            </a: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 Codex. Les mêmes instructions </a:t>
            </a:r>
            <a:r>
              <a:rPr lang="fr-FR" sz="950" b="0" i="0" noProof="0" dirty="0" err="1">
                <a:solidFill>
                  <a:srgbClr val="666666"/>
                </a:solidFill>
                <a:latin typeface="Segoe UI"/>
              </a:rPr>
              <a:t>markdown</a:t>
            </a: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, les mêmes artefacts.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6238" y="2905125"/>
            <a:ext cx="5429114" cy="1143000"/>
          </a:xfrm>
          <a:prstGeom prst="roundRect">
            <a:avLst/>
          </a:prstGeom>
          <a:solidFill>
            <a:srgbClr val="F0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Rectangle 14"/>
          <p:cNvSpPr/>
          <p:nvPr/>
        </p:nvSpPr>
        <p:spPr>
          <a:xfrm>
            <a:off x="476238" y="2905125"/>
            <a:ext cx="57148" cy="1143000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628634" y="3019425"/>
            <a:ext cx="5181470" cy="9525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fr-FR" sz="1150" b="1" i="0" noProof="0" dirty="0">
                <a:solidFill>
                  <a:srgbClr val="00566F"/>
                </a:solidFill>
                <a:latin typeface="Segoe UI"/>
              </a:rPr>
              <a:t>🧪 Qualité par construction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Tests seuils avant implémentation. Couverture 100% exigée. Revue d'implémentation systématique par l'IA.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6342" y="2905125"/>
            <a:ext cx="5429114" cy="1143000"/>
          </a:xfrm>
          <a:prstGeom prst="roundRect">
            <a:avLst/>
          </a:prstGeom>
          <a:solidFill>
            <a:srgbClr val="F0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Rectangle 17"/>
          <p:cNvSpPr/>
          <p:nvPr/>
        </p:nvSpPr>
        <p:spPr>
          <a:xfrm>
            <a:off x="6286342" y="2905125"/>
            <a:ext cx="57148" cy="1143000"/>
          </a:xfrm>
          <a:prstGeom prst="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6438739" y="3019425"/>
            <a:ext cx="5181470" cy="9525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fr-FR" sz="1150" b="1" i="0" noProof="0" dirty="0">
                <a:solidFill>
                  <a:srgbClr val="00566F"/>
                </a:solidFill>
                <a:latin typeface="Segoe UI"/>
              </a:rPr>
              <a:t>📚 Documentation vivante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Brouillon, exigence, design, plan, validation, commits : chaque phase laisse un artefact relu et consolidé.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6238" y="4238625"/>
            <a:ext cx="5429114" cy="1143000"/>
          </a:xfrm>
          <a:prstGeom prst="roundRect">
            <a:avLst/>
          </a:prstGeom>
          <a:solidFill>
            <a:srgbClr val="F0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Rectangle 20"/>
          <p:cNvSpPr/>
          <p:nvPr/>
        </p:nvSpPr>
        <p:spPr>
          <a:xfrm>
            <a:off x="476238" y="4238625"/>
            <a:ext cx="57148" cy="1143000"/>
          </a:xfrm>
          <a:prstGeom prst="rect">
            <a:avLst/>
          </a:prstGeom>
          <a:solidFill>
            <a:srgbClr val="005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628634" y="4352925"/>
            <a:ext cx="5181470" cy="9525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fr-FR" sz="1150" b="1" i="0" noProof="0" dirty="0">
                <a:solidFill>
                  <a:srgbClr val="00566F"/>
                </a:solidFill>
                <a:latin typeface="Segoe UI"/>
              </a:rPr>
              <a:t>⚡ Automatisation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50" b="0" i="0" noProof="0" dirty="0" err="1">
                <a:solidFill>
                  <a:srgbClr val="666666"/>
                </a:solidFill>
                <a:latin typeface="Segoe UI"/>
              </a:rPr>
              <a:t>pw</a:t>
            </a: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 </a:t>
            </a:r>
            <a:r>
              <a:rPr lang="fr-FR" sz="950" b="0" i="0" noProof="0" dirty="0" err="1">
                <a:solidFill>
                  <a:srgbClr val="666666"/>
                </a:solidFill>
                <a:latin typeface="Segoe UI"/>
              </a:rPr>
              <a:t>skill</a:t>
            </a: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 et </a:t>
            </a:r>
            <a:r>
              <a:rPr lang="fr-FR" sz="950" b="0" i="0" noProof="0" dirty="0" err="1">
                <a:solidFill>
                  <a:srgbClr val="666666"/>
                </a:solidFill>
                <a:latin typeface="Segoe UI"/>
              </a:rPr>
              <a:t>pw</a:t>
            </a: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 </a:t>
            </a:r>
            <a:r>
              <a:rPr lang="fr-FR" sz="950" b="0" i="0" noProof="0" dirty="0" err="1">
                <a:solidFill>
                  <a:srgbClr val="666666"/>
                </a:solidFill>
                <a:latin typeface="Segoe UI"/>
              </a:rPr>
              <a:t>handoff</a:t>
            </a: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 enchaînent les étapes sans intervention. L'humain intervient seulement aux points de revue.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342" y="4238625"/>
            <a:ext cx="5429114" cy="1143000"/>
          </a:xfrm>
          <a:prstGeom prst="roundRect">
            <a:avLst/>
          </a:prstGeom>
          <a:solidFill>
            <a:srgbClr val="F0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4" name="Rectangle 23"/>
          <p:cNvSpPr/>
          <p:nvPr/>
        </p:nvSpPr>
        <p:spPr>
          <a:xfrm>
            <a:off x="6286342" y="4238625"/>
            <a:ext cx="57148" cy="1143000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5" name="TextBox 24"/>
          <p:cNvSpPr txBox="1"/>
          <p:nvPr/>
        </p:nvSpPr>
        <p:spPr>
          <a:xfrm>
            <a:off x="6438739" y="4352925"/>
            <a:ext cx="5181470" cy="9525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fr-FR" sz="1150" b="1" i="0" noProof="0" dirty="0">
                <a:solidFill>
                  <a:srgbClr val="00566F"/>
                </a:solidFill>
                <a:latin typeface="Segoe UI"/>
              </a:rPr>
              <a:t>🔓 Licence MIT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50" b="0" i="0" noProof="0" dirty="0">
                <a:solidFill>
                  <a:srgbClr val="666666"/>
                </a:solidFill>
                <a:latin typeface="Segoe UI"/>
              </a:rPr>
              <a:t>Réutilisable dans tous les projets. Copie, fork, adaptation sans contrainte de copyleft.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0990" y="6667500"/>
            <a:ext cx="4762380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 err="1">
                <a:solidFill>
                  <a:srgbClr val="AAAAAA"/>
                </a:solidFill>
                <a:latin typeface="Segoe UI"/>
              </a:rPr>
              <a:t>llm-shared</a:t>
            </a: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 - Bénéfices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3476" y="6667500"/>
            <a:ext cx="857228" cy="1524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50" b="0" i="0" noProof="0" dirty="0">
                <a:solidFill>
                  <a:srgbClr val="AAAAAA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6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017" y="0"/>
            <a:ext cx="4876678" cy="47625"/>
          </a:xfrm>
          <a:prstGeom prst="rect">
            <a:avLst/>
          </a:prstGeom>
          <a:solidFill>
            <a:srgbClr val="EC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380990" y="285750"/>
            <a:ext cx="4762380" cy="419100"/>
          </a:xfrm>
          <a:prstGeom prst="rect">
            <a:avLst/>
          </a:prstGeom>
          <a:noFill/>
        </p:spPr>
        <p:txBody>
          <a:bodyPr wrap="square" lIns="38100" tIns="12700" rIns="381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lang="fr-FR" sz="1300" b="1" i="0" noProof="0" dirty="0" err="1">
                <a:solidFill>
                  <a:srgbClr val="FFFFFF"/>
                </a:solidFill>
                <a:latin typeface="Segoe UI"/>
              </a:rPr>
              <a:t>Organization</a:t>
            </a:r>
            <a:r>
              <a:rPr lang="fr-FR" sz="1300" b="1" i="0" noProof="0" dirty="0">
                <a:solidFill>
                  <a:srgbClr val="FFFFFF"/>
                </a:solidFill>
                <a:latin typeface="Segoe UI"/>
              </a:rPr>
              <a:t> </a:t>
            </a:r>
            <a:r>
              <a:rPr lang="fr-FR" sz="1300" b="1" i="0" noProof="0" dirty="0" err="1">
                <a:solidFill>
                  <a:srgbClr val="FFFFFF"/>
                </a:solidFill>
                <a:latin typeface="Segoe UI"/>
              </a:rPr>
              <a:t>name</a:t>
            </a:r>
            <a:endParaRPr lang="fr-FR" sz="1300" b="1" i="0" noProof="0" dirty="0">
              <a:solidFill>
                <a:srgbClr val="FFFFFF"/>
              </a:solidFill>
              <a:latin typeface="Segoe U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700" b="0" i="0" noProof="0" dirty="0">
                <a:solidFill>
                  <a:srgbClr val="8EB2BB"/>
                </a:solidFill>
                <a:latin typeface="Segoe UI"/>
              </a:rPr>
              <a:t>ORGANIZATION SUBTITLE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905000"/>
            <a:ext cx="12191695" cy="5715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2800" b="1" i="0" noProof="0" dirty="0">
                <a:solidFill>
                  <a:srgbClr val="FFFFFF"/>
                </a:solidFill>
                <a:latin typeface="Segoe UI"/>
              </a:rPr>
              <a:t>Merci de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5942" y="2714625"/>
            <a:ext cx="7619809" cy="66675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fr-FR" sz="1400" b="0" i="0" noProof="0" dirty="0" err="1">
                <a:solidFill>
                  <a:srgbClr val="C4D8DE"/>
                </a:solidFill>
                <a:latin typeface="Segoe UI"/>
              </a:rPr>
              <a:t>llm-shared</a:t>
            </a:r>
            <a:r>
              <a:rPr lang="fr-FR" sz="1400" b="0" i="0" noProof="0" dirty="0">
                <a:solidFill>
                  <a:srgbClr val="C4D8DE"/>
                </a:solidFill>
                <a:latin typeface="Segoe UI"/>
              </a:rPr>
              <a:t> - du brouillon à la release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00" b="0" i="0" noProof="0" dirty="0">
                <a:solidFill>
                  <a:srgbClr val="8EB2BB"/>
                </a:solidFill>
                <a:latin typeface="Segoe UI"/>
              </a:rPr>
              <a:t>Sans </a:t>
            </a:r>
            <a:r>
              <a:rPr lang="fr-FR" sz="1100" b="0" i="0" noProof="0" dirty="0" err="1">
                <a:solidFill>
                  <a:srgbClr val="8EB2BB"/>
                </a:solidFill>
                <a:latin typeface="Segoe UI"/>
              </a:rPr>
              <a:t>vibe-coding</a:t>
            </a:r>
            <a:r>
              <a:rPr lang="fr-FR" sz="1100" b="0" i="0" noProof="0" dirty="0">
                <a:solidFill>
                  <a:srgbClr val="8EB2BB"/>
                </a:solidFill>
                <a:latin typeface="Segoe UI"/>
              </a:rPr>
              <a:t>, avec auto-revue IA et traçabilité complète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0199" y="3810000"/>
            <a:ext cx="2476438" cy="47625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fr-FR" sz="2800" b="1" i="0" noProof="0" dirty="0">
                <a:solidFill>
                  <a:srgbClr val="EC6608"/>
                </a:solidFill>
                <a:latin typeface="Segoe U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0199" y="4305300"/>
            <a:ext cx="2476438" cy="2286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0" i="0" noProof="0" dirty="0">
                <a:solidFill>
                  <a:srgbClr val="8EB2BB"/>
                </a:solidFill>
                <a:latin typeface="Segoe UI"/>
              </a:rPr>
              <a:t>phases structurées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57628" y="3810000"/>
            <a:ext cx="2476438" cy="47625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fr-FR" sz="2800" b="1" i="0" noProof="0" dirty="0">
                <a:solidFill>
                  <a:srgbClr val="EC6608"/>
                </a:solidFill>
                <a:latin typeface="Segoe U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57628" y="4305300"/>
            <a:ext cx="2476438" cy="2286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0" i="0" noProof="0" dirty="0">
                <a:solidFill>
                  <a:srgbClr val="8EB2BB"/>
                </a:solidFill>
                <a:latin typeface="Segoe UI"/>
              </a:rPr>
              <a:t>agents IA compatibles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15057" y="3810000"/>
            <a:ext cx="2476438" cy="47625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fr-FR" sz="2800" b="1" i="0" noProof="0" dirty="0">
                <a:solidFill>
                  <a:srgbClr val="EC6608"/>
                </a:solidFill>
                <a:latin typeface="Segoe UI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5057" y="4305300"/>
            <a:ext cx="2476438" cy="228600"/>
          </a:xfrm>
          <a:prstGeom prst="rect">
            <a:avLst/>
          </a:prstGeom>
          <a:noFill/>
        </p:spPr>
        <p:txBody>
          <a:bodyPr wrap="square" lIns="38100" tIns="12700" rIns="381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00" b="0" i="0" noProof="0" dirty="0">
                <a:solidFill>
                  <a:srgbClr val="8EB2BB"/>
                </a:solidFill>
                <a:latin typeface="Segoe UI"/>
              </a:rPr>
              <a:t>traçabilité des décisions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1799</Words>
  <Application>Microsoft Office PowerPoint</Application>
  <PresentationFormat>Widescreen</PresentationFormat>
  <Paragraphs>327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Chaffiol, Daniel (Ext)</cp:lastModifiedBy>
  <cp:revision>4</cp:revision>
  <dcterms:created xsi:type="dcterms:W3CDTF">2013-01-27T09:14:16Z</dcterms:created>
  <dcterms:modified xsi:type="dcterms:W3CDTF">2026-07-03T08:41:26Z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a2a25de-01fc-42db-8d65-8abb79d1dab4_Enabled">
    <vt:lpwstr>true</vt:lpwstr>
  </property>
  <property fmtid="{D5CDD505-2E9C-101B-9397-08002B2CF9AE}" pid="3" name="MSIP_Label_7a2a25de-01fc-42db-8d65-8abb79d1dab4_SetDate">
    <vt:lpwstr>2026-07-03T08:36:03Z</vt:lpwstr>
  </property>
  <property fmtid="{D5CDD505-2E9C-101B-9397-08002B2CF9AE}" pid="4" name="MSIP_Label_7a2a25de-01fc-42db-8d65-8abb79d1dab4_Method">
    <vt:lpwstr>Privileged</vt:lpwstr>
  </property>
  <property fmtid="{D5CDD505-2E9C-101B-9397-08002B2CF9AE}" pid="5" name="MSIP_Label_7a2a25de-01fc-42db-8d65-8abb79d1dab4_Name">
    <vt:lpwstr>C1-Public</vt:lpwstr>
  </property>
  <property fmtid="{D5CDD505-2E9C-101B-9397-08002B2CF9AE}" pid="6" name="MSIP_Label_7a2a25de-01fc-42db-8d65-8abb79d1dab4_SiteId">
    <vt:lpwstr>fb3baf17-c313-474c-8d5d-577a3ec97a32</vt:lpwstr>
  </property>
  <property fmtid="{D5CDD505-2E9C-101B-9397-08002B2CF9AE}" pid="7" name="MSIP_Label_7a2a25de-01fc-42db-8d65-8abb79d1dab4_ActionId">
    <vt:lpwstr>a305db23-b225-45b8-9893-23e1a64ba671</vt:lpwstr>
  </property>
  <property fmtid="{D5CDD505-2E9C-101B-9397-08002B2CF9AE}" pid="8" name="MSIP_Label_7a2a25de-01fc-42db-8d65-8abb79d1dab4_ContentBits">
    <vt:lpwstr>0</vt:lpwstr>
  </property>
  <property fmtid="{D5CDD505-2E9C-101B-9397-08002B2CF9AE}" pid="9" name="MSIP_Label_7a2a25de-01fc-42db-8d65-8abb79d1dab4_Tag">
    <vt:lpwstr>10, 0, 1, 1</vt:lpwstr>
  </property>
</Properties>
</file>